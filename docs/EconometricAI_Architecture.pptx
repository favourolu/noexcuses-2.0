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2560320"/>
            <a:ext cx="1828800" cy="508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400" b="1">
                <a:solidFill>
                  <a:srgbClr val="FFFFFF"/>
                </a:solidFill>
              </a:defRPr>
            </a:pPr>
            <a:r>
              <a:t>EconometricAI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CCCCCC"/>
                </a:solidFill>
              </a:defRPr>
            </a:pPr>
            <a:r>
              <a:t>AI-Powered Econometric Testing &amp; Model Selection 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029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8899"/>
                </a:solidFill>
              </a:defRPr>
            </a:pPr>
            <a:r>
              <a:t>System Architecture &amp; Design Document  |  v1.0  |  March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96D6"/>
                </a:solidFill>
              </a:defRPr>
            </a:pPr>
            <a:r>
              <a:t>The Problem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303520" cy="1828800"/>
          </a:xfrm>
          <a:prstGeom prst="roundRect">
            <a:avLst/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82880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8C42"/>
                </a:solidFill>
              </a:defRPr>
            </a:pPr>
            <a:r>
              <a:t>Manual &amp; Slow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377440"/>
            <a:ext cx="4754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</a:defRPr>
            </a:pPr>
            <a:r>
              <a:t>Researchers spend hours selecting the right model</a:t>
            </a:r>
            <a:br/>
            <a:r>
              <a:t>(OLS vs. IV vs. ARIMA vs. VECM)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645920"/>
            <a:ext cx="5303520" cy="1828800"/>
          </a:xfrm>
          <a:prstGeom prst="roundRect">
            <a:avLst/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0" y="182880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8C42"/>
                </a:solidFill>
              </a:defRPr>
            </a:pPr>
            <a:r>
              <a:t>Assumptions Skipped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0" y="2377440"/>
            <a:ext cx="4754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</a:defRPr>
            </a:pPr>
            <a:r>
              <a:t>Critical assumption tests are often missed</a:t>
            </a:r>
            <a:br/>
            <a:r>
              <a:t>or performed incorrectly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931920"/>
            <a:ext cx="5303520" cy="1828800"/>
          </a:xfrm>
          <a:prstGeom prst="roundRect">
            <a:avLst/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411480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8C42"/>
                </a:solidFill>
              </a:defRPr>
            </a:pPr>
            <a:r>
              <a:t>Expertise Barrier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4663440"/>
            <a:ext cx="4754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</a:defRPr>
            </a:pPr>
            <a:r>
              <a:t>Results interpretation requires deep</a:t>
            </a:r>
            <a:br/>
            <a:r>
              <a:t>statistical knowledge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3931920"/>
            <a:ext cx="5303520" cy="1828800"/>
          </a:xfrm>
          <a:prstGeom prst="roundRect">
            <a:avLst/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0" y="411480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8C42"/>
                </a:solidFill>
              </a:defRPr>
            </a:pPr>
            <a:r>
              <a:t>Wrong Conclusions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4663440"/>
            <a:ext cx="4754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</a:defRPr>
            </a:pPr>
            <a:r>
              <a:t>Errors in model selection lead to</a:t>
            </a:r>
            <a:br/>
            <a:r>
              <a:t>spurious results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96D6"/>
                </a:solidFill>
              </a:defRPr>
            </a:pPr>
            <a:r>
              <a:t>Market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C98D"/>
                </a:solidFill>
              </a:defRPr>
            </a:pPr>
            <a:r>
              <a:t>No dominant product combines: automated test execution + intelligent model selection + assumption validation + reporting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194560"/>
            <a:ext cx="10515600" cy="457200"/>
          </a:xfrm>
          <a:prstGeom prst="round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2402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Competitor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0" y="22402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Type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0" y="22402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Limitation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697480"/>
            <a:ext cx="10515600" cy="457200"/>
          </a:xfrm>
          <a:prstGeom prst="roundRect">
            <a:avLst/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7432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Econometrics AI Agent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0" y="27432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</a:defRPr>
            </a:pPr>
            <a:r>
              <a:t>Academic research (arXiv)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0" y="27432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4D6D"/>
                </a:solidFill>
              </a:defRPr>
            </a:pPr>
            <a:r>
              <a:t>Not a commercial product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200400"/>
            <a:ext cx="10515600" cy="457200"/>
          </a:xfrm>
          <a:prstGeom prst="roundRect">
            <a:avLst/>
          </a:prstGeom>
          <a:solidFill>
            <a:srgbClr val="1E1E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2461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Economic AI (EU)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0" y="32461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</a:defRPr>
            </a:pPr>
            <a:r>
              <a:t>Causal AI platform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0" y="32461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4D6D"/>
                </a:solidFill>
              </a:defRPr>
            </a:pPr>
            <a:r>
              <a:t>Enterprise-only, not automated testing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703320"/>
            <a:ext cx="10515600" cy="457200"/>
          </a:xfrm>
          <a:prstGeom prst="roundRect">
            <a:avLst/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7490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Stata / EViews / 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0" y="37490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</a:defRPr>
            </a:pPr>
            <a:r>
              <a:t>Traditional software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0" y="37490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4D6D"/>
                </a:solidFill>
              </a:defRPr>
            </a:pPr>
            <a:r>
              <a:t>Manual, requires deep expertise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4206240"/>
            <a:ext cx="10515600" cy="457200"/>
          </a:xfrm>
          <a:prstGeom prst="roundRect">
            <a:avLst/>
          </a:prstGeom>
          <a:solidFill>
            <a:srgbClr val="1E1E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42519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statsmodels (Python)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0" y="42519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</a:defRPr>
            </a:pPr>
            <a:r>
              <a:t>Library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0" y="42519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4D6D"/>
                </a:solidFill>
              </a:defRPr>
            </a:pPr>
            <a:r>
              <a:t>Code-level, no decision logic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4709160"/>
            <a:ext cx="10515600" cy="457200"/>
          </a:xfrm>
          <a:prstGeom prst="roundRect">
            <a:avLst/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47548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ChatGPT / GPT wrappers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0" y="47548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</a:defRPr>
            </a:pPr>
            <a:r>
              <a:t>LLM chatbots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0" y="47548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4D6D"/>
                </a:solidFill>
              </a:defRPr>
            </a:pPr>
            <a:r>
              <a:t>No real test execution, hallucinations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53035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C98D"/>
                </a:solidFill>
              </a:defRPr>
            </a:pPr>
            <a:r>
              <a:t>Target Users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57607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</a:defRPr>
            </a:pPr>
            <a:r>
              <a:t>Academic researchers  |  Graduate students  |  Policy analysts  |  Financial analysts  |  Data scientists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96D6"/>
                </a:solidFill>
              </a:defRPr>
            </a:pPr>
            <a:r>
              <a:t>Proven Success Rates (arXiv Research)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</a:defRPr>
            </a:pPr>
            <a:r>
              <a:t>Specialized AI agents significantly outperform generic LLMs for econometric tasks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103120"/>
            <a:ext cx="2560320" cy="2286000"/>
          </a:xfrm>
          <a:prstGeom prst="roundRect">
            <a:avLst/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37744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00C98D"/>
                </a:solidFill>
              </a:defRPr>
            </a:pPr>
            <a:r>
              <a:t>93%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38328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FFFF"/>
                </a:solidFill>
              </a:defRPr>
            </a:pPr>
            <a:r>
              <a:t>Task Completion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8404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88899"/>
                </a:solidFill>
              </a:defRPr>
            </a:pPr>
            <a:r>
              <a:t>Specialized Agent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66160" y="2103120"/>
            <a:ext cx="2560320" cy="2286000"/>
          </a:xfrm>
          <a:prstGeom prst="roundRect">
            <a:avLst/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66160" y="237744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4D6D"/>
                </a:solidFill>
              </a:defRPr>
            </a:pPr>
            <a:r>
              <a:t>&lt;50%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0" y="338328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FFFF"/>
                </a:solidFill>
              </a:defRPr>
            </a:pPr>
            <a:r>
              <a:t>Task Completion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38404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88899"/>
                </a:solidFill>
              </a:defRPr>
            </a:pPr>
            <a:r>
              <a:t>Generic LLM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2103120"/>
            <a:ext cx="2560320" cy="2286000"/>
          </a:xfrm>
          <a:prstGeom prst="roundRect">
            <a:avLst/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237744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00C98D"/>
                </a:solidFill>
              </a:defRPr>
            </a:pPr>
            <a:r>
              <a:t>87%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338328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FFFF"/>
                </a:solidFill>
              </a:defRPr>
            </a:pPr>
            <a:r>
              <a:t>Coefficient Direction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38404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88899"/>
                </a:solidFill>
              </a:defRPr>
            </a:pPr>
            <a:r>
              <a:t>Specialized Agent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235440" y="2103120"/>
            <a:ext cx="2560320" cy="2286000"/>
          </a:xfrm>
          <a:prstGeom prst="roundRect">
            <a:avLst/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35440" y="237744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00C98D"/>
                </a:solidFill>
              </a:defRPr>
            </a:pPr>
            <a:r>
              <a:t>66%+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35440" y="338328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FFFF"/>
                </a:solidFill>
              </a:defRPr>
            </a:pPr>
            <a:r>
              <a:t>Replication (Easy)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35440" y="38404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88899"/>
                </a:solidFill>
              </a:defRPr>
            </a:pPr>
            <a:r>
              <a:t>Specialized Agent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846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Approach Comparison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5394960"/>
            <a:ext cx="10515600" cy="411480"/>
          </a:xfrm>
          <a:prstGeom prst="round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544068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</a:defRPr>
            </a:pPr>
            <a:r>
              <a:t>Approach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66160" y="544068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</a:defRPr>
            </a:pPr>
            <a:r>
              <a:t>Completion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0" y="544068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</a:defRPr>
            </a:pPr>
            <a:r>
              <a:t>Accuracy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69680" y="544068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</a:defRPr>
            </a:pPr>
            <a:r>
              <a:t>Risk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" y="5852160"/>
            <a:ext cx="10515600" cy="384048"/>
          </a:xfrm>
          <a:prstGeom prst="roundRect">
            <a:avLst/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87959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4D6D"/>
                </a:solidFill>
              </a:defRPr>
            </a:pPr>
            <a:r>
              <a:t>Pure LLM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0" y="587959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</a:defRPr>
            </a:pPr>
            <a:r>
              <a:t>&lt;50%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7920" y="587959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</a:defRPr>
            </a:pPr>
            <a:r>
              <a:t>Low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69680" y="587959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</a:defRPr>
            </a:pPr>
            <a:r>
              <a:t>High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31520" y="6263640"/>
            <a:ext cx="10515600" cy="384048"/>
          </a:xfrm>
          <a:prstGeom prst="roundRect">
            <a:avLst/>
          </a:prstGeom>
          <a:solidFill>
            <a:srgbClr val="1E1E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" y="629107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8C42"/>
                </a:solidFill>
              </a:defRPr>
            </a:pPr>
            <a:r>
              <a:t>Pure Rules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66160" y="629107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</a:defRPr>
            </a:pPr>
            <a:r>
              <a:t>~70%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17920" y="629107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</a:defRPr>
            </a:pPr>
            <a:r>
              <a:t>Medium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869680" y="629107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</a:defRPr>
            </a:pPr>
            <a:r>
              <a:t>Medium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31520" y="6675120"/>
            <a:ext cx="10515600" cy="384048"/>
          </a:xfrm>
          <a:prstGeom prst="roundRect">
            <a:avLst/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14400" y="670255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C98D"/>
                </a:solidFill>
              </a:defRPr>
            </a:pPr>
            <a:r>
              <a:t>Hybrid (Ours)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66160" y="670255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</a:defRPr>
            </a:pPr>
            <a:r>
              <a:t>~93%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17920" y="670255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</a:defRPr>
            </a:pPr>
            <a:r>
              <a:t>High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869680" y="670255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</a:defRPr>
            </a:pPr>
            <a:r>
              <a:t>Low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96D6"/>
                </a:solidFill>
              </a:defRPr>
            </a:pPr>
            <a:r>
              <a:t>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C98D"/>
                </a:solidFill>
              </a:defRPr>
            </a:pPr>
            <a:r>
              <a:t>Hybrid Decision Engine: Rule Engine + LLM + Validator (Sandwich Pattern)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0" y="1828800"/>
            <a:ext cx="2926080" cy="640080"/>
          </a:xfrm>
          <a:prstGeom prst="roundRect">
            <a:avLst/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0" y="1828800"/>
            <a:ext cx="73152" cy="64008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54880" y="187452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96D6"/>
                </a:solidFill>
              </a:defRPr>
            </a:pPr>
            <a:r>
              <a:t>USER INPUT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21031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</a:defRPr>
            </a:pPr>
            <a:r>
              <a:t>Upload CSV/Excel</a:t>
            </a:r>
            <a:br/>
            <a:r>
              <a:t>+ Research Question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0" y="2542032"/>
            <a:ext cx="2926080" cy="640080"/>
          </a:xfrm>
          <a:prstGeom prst="roundRect">
            <a:avLst/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0" y="2542032"/>
            <a:ext cx="73152" cy="640080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80" y="2587752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C5CE7"/>
                </a:solidFill>
              </a:defRPr>
            </a:pPr>
            <a:r>
              <a:t>DATA PROFILER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2816352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</a:defRPr>
            </a:pPr>
            <a:r>
              <a:t>Auto-detect data type,</a:t>
            </a:r>
            <a:br/>
            <a:r>
              <a:t>frequency, variables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371600" y="3255264"/>
            <a:ext cx="2926080" cy="640080"/>
          </a:xfrm>
          <a:prstGeom prst="roundRect">
            <a:avLst/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371600" y="3255264"/>
            <a:ext cx="73152" cy="640080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554480" y="3300984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8C42"/>
                </a:solidFill>
              </a:defRPr>
            </a:pPr>
            <a:r>
              <a:t>RULE ENGINE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3529584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</a:defRPr>
            </a:pPr>
            <a:r>
              <a:t>Enforce mandatory tests</a:t>
            </a:r>
            <a:br/>
            <a:r>
              <a:t>+ valid methods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0" y="3968496"/>
            <a:ext cx="2926080" cy="640080"/>
          </a:xfrm>
          <a:prstGeom prst="roundRect">
            <a:avLst/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0" y="3968496"/>
            <a:ext cx="73152" cy="640080"/>
          </a:xfrm>
          <a:prstGeom prst="rect">
            <a:avLst/>
          </a:prstGeom>
          <a:solidFill>
            <a:srgbClr val="00C9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54880" y="40142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98D"/>
                </a:solidFill>
              </a:defRPr>
            </a:pPr>
            <a:r>
              <a:t>TEST EXECUTOR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54880" y="4242816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</a:defRPr>
            </a:pPr>
            <a:r>
              <a:t>Run statsmodels /</a:t>
            </a:r>
            <a:br/>
            <a:r>
              <a:t>linearmodels tests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0" y="4681728"/>
            <a:ext cx="2926080" cy="640080"/>
          </a:xfrm>
          <a:prstGeom prst="roundRect">
            <a:avLst/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772400" y="4681728"/>
            <a:ext cx="73152" cy="640080"/>
          </a:xfrm>
          <a:prstGeom prst="rect">
            <a:avLst/>
          </a:prstGeom>
          <a:solidFill>
            <a:srgbClr val="A26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955280" y="4727448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A26AFF"/>
                </a:solidFill>
              </a:defRPr>
            </a:pPr>
            <a:r>
              <a:t>LLM REASONING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55280" y="4956048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</a:defRPr>
            </a:pPr>
            <a:r>
              <a:t>Claude API: choose</a:t>
            </a:r>
            <a:br/>
            <a:r>
              <a:t>best model + explain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0" y="5394960"/>
            <a:ext cx="2926080" cy="640080"/>
          </a:xfrm>
          <a:prstGeom prst="roundRect">
            <a:avLst/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572000" y="5394960"/>
            <a:ext cx="73152" cy="640080"/>
          </a:xfrm>
          <a:prstGeom prst="rect">
            <a:avLst/>
          </a:prstGeom>
          <a:solidFill>
            <a:srgbClr val="FF4D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754880" y="544068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4D6D"/>
                </a:solidFill>
              </a:defRPr>
            </a:pPr>
            <a:r>
              <a:t>VALIDATOR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54880" y="56692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</a:defRPr>
            </a:pPr>
            <a:r>
              <a:t>Check output against</a:t>
            </a:r>
            <a:br/>
            <a:r>
              <a:t>hard constraints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0" y="6108192"/>
            <a:ext cx="2926080" cy="640080"/>
          </a:xfrm>
          <a:prstGeom prst="roundRect">
            <a:avLst/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572000" y="6108192"/>
            <a:ext cx="73152" cy="64008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754880" y="6153912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96D6"/>
                </a:solidFill>
              </a:defRPr>
            </a:pPr>
            <a:r>
              <a:t>OUTPUT REPORT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54880" y="6382512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</a:defRPr>
            </a:pPr>
            <a:r>
              <a:t>Model + Tests +</a:t>
            </a:r>
            <a:br/>
            <a:r>
              <a:t>Confidence + Audit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0" y="2286000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99"/>
                </a:solidFill>
              </a:defRPr>
            </a:pPr>
            <a:r>
              <a:t>Design Principles:</a:t>
            </a:r>
            <a:br/>
            <a:br/>
            <a:r>
              <a:t>1. Sandwich Pattern</a:t>
            </a:r>
            <a:br/>
            <a:r>
              <a:t>   Rules wrap the LLM</a:t>
            </a:r>
            <a:br/>
            <a:br/>
            <a:r>
              <a:t>2. Fail Safe</a:t>
            </a:r>
            <a:br/>
            <a:r>
              <a:t>   Validator catches bad output</a:t>
            </a:r>
            <a:br/>
            <a:br/>
            <a:r>
              <a:t>3. Explainable</a:t>
            </a:r>
            <a:br/>
            <a:r>
              <a:t>   Every decision is logged</a:t>
            </a:r>
            <a:br/>
            <a:br/>
            <a:r>
              <a:t>4. Modular</a:t>
            </a:r>
            <a:br/>
            <a:r>
              <a:t>   Each component testable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96D6"/>
                </a:solidFill>
              </a:defRPr>
            </a:pPr>
            <a:r>
              <a:t>Components: Data Profiler &amp; Rule Engine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5303520" cy="4754880"/>
          </a:xfrm>
          <a:prstGeom prst="roundRect">
            <a:avLst/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6459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C98D"/>
                </a:solidFill>
              </a:defRPr>
            </a:pPr>
            <a:r>
              <a:t>1. Data Profiler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1945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</a:defRPr>
            </a:pPr>
            <a:r>
              <a:t>Automatically detects data characteristics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743200"/>
            <a:ext cx="47548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CCCCCC"/>
                </a:solidFill>
              </a:defRPr>
            </a:pPr>
            <a:r>
              <a:t>Data type: Time Series / Panel / Cross-Section</a:t>
            </a:r>
          </a:p>
          <a:p>
            <a:pPr>
              <a:spcAft>
                <a:spcPts val="600"/>
              </a:spcAft>
              <a:defRPr sz="1400">
                <a:solidFill>
                  <a:srgbClr val="CCCCCC"/>
                </a:solidFill>
              </a:defRPr>
            </a:pPr>
            <a:r>
              <a:t>Frequency: Daily / Monthly / Quarterly / Annual</a:t>
            </a:r>
          </a:p>
          <a:p>
            <a:pPr>
              <a:spcAft>
                <a:spcPts val="600"/>
              </a:spcAft>
              <a:defRPr sz="1400">
                <a:solidFill>
                  <a:srgbClr val="CCCCCC"/>
                </a:solidFill>
              </a:defRPr>
            </a:pPr>
            <a:r>
              <a:t>Variable types: Continuous / Categorical / Binary</a:t>
            </a:r>
          </a:p>
          <a:p>
            <a:pPr>
              <a:spcAft>
                <a:spcPts val="600"/>
              </a:spcAft>
              <a:defRPr sz="1400">
                <a:solidFill>
                  <a:srgbClr val="CCCCCC"/>
                </a:solidFill>
              </a:defRPr>
            </a:pPr>
            <a:r>
              <a:t>Missing data: Count + pattern (MCAR, MAR)</a:t>
            </a:r>
          </a:p>
          <a:p>
            <a:pPr>
              <a:spcAft>
                <a:spcPts val="600"/>
              </a:spcAft>
              <a:defRPr sz="1400">
                <a:solidFill>
                  <a:srgbClr val="CCCCCC"/>
                </a:solidFill>
              </a:defRPr>
            </a:pPr>
            <a:r>
              <a:t>Outliers: IQR method + Z-score</a:t>
            </a:r>
          </a:p>
          <a:p>
            <a:pPr>
              <a:spcAft>
                <a:spcPts val="600"/>
              </a:spcAft>
              <a:defRPr sz="1400">
                <a:solidFill>
                  <a:srgbClr val="CCCCCC"/>
                </a:solidFill>
              </a:defRPr>
            </a:pPr>
            <a:r>
              <a:t>Summary stats: Mean, std, skewness, kurtosis</a:t>
            </a:r>
          </a:p>
          <a:p>
            <a:pPr>
              <a:spcAft>
                <a:spcPts val="600"/>
              </a:spcAft>
              <a:defRPr sz="1400">
                <a:solidFill>
                  <a:srgbClr val="CCCCCC"/>
                </a:solidFill>
              </a:defRPr>
            </a:pPr>
            <a:r>
              <a:t>Dimensions: N observations x K variables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463040"/>
            <a:ext cx="5303520" cy="4754880"/>
          </a:xfrm>
          <a:prstGeom prst="roundRect">
            <a:avLst/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0" y="16459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8C42"/>
                </a:solidFill>
              </a:defRPr>
            </a:pPr>
            <a:r>
              <a:t>2. Rule Engine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0" y="21945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</a:defRPr>
            </a:pPr>
            <a:r>
              <a:t>Enforces mandatory tests before model fitting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2743200"/>
            <a:ext cx="47548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CCCCCC"/>
                </a:solidFill>
              </a:defRPr>
            </a:pPr>
            <a:r>
              <a:t>Time Series -&gt; ADF + KPSS stationarity tests</a:t>
            </a:r>
          </a:p>
          <a:p>
            <a:pPr>
              <a:spcAft>
                <a:spcPts val="600"/>
              </a:spcAft>
              <a:defRPr sz="1400">
                <a:solidFill>
                  <a:srgbClr val="CCCCCC"/>
                </a:solidFill>
              </a:defRPr>
            </a:pPr>
            <a:r>
              <a:t>Non-stationary -&gt; Cointegration test (Johansen)</a:t>
            </a:r>
          </a:p>
          <a:p>
            <a:pPr>
              <a:spcAft>
                <a:spcPts val="600"/>
              </a:spcAft>
              <a:defRPr sz="1400">
                <a:solidFill>
                  <a:srgbClr val="CCCCCC"/>
                </a:solidFill>
              </a:defRPr>
            </a:pPr>
            <a:r>
              <a:t>Cross-Section -&gt; VIF + Breusch-Pagan</a:t>
            </a:r>
          </a:p>
          <a:p>
            <a:pPr>
              <a:spcAft>
                <a:spcPts val="600"/>
              </a:spcAft>
              <a:defRPr sz="1400">
                <a:solidFill>
                  <a:srgbClr val="CCCCCC"/>
                </a:solidFill>
              </a:defRPr>
            </a:pPr>
            <a:r>
              <a:t>Panel Data -&gt; Hausman test (FE vs RE)</a:t>
            </a:r>
          </a:p>
          <a:p>
            <a:pPr>
              <a:spcAft>
                <a:spcPts val="600"/>
              </a:spcAft>
              <a:defRPr sz="1400">
                <a:solidFill>
                  <a:srgbClr val="CCCCCC"/>
                </a:solidFill>
              </a:defRPr>
            </a:pPr>
            <a:r>
              <a:t>Endogeneity -&gt; Sargan/Hansen instrument test</a:t>
            </a:r>
          </a:p>
          <a:p>
            <a:pPr>
              <a:spcAft>
                <a:spcPts val="600"/>
              </a:spcAft>
              <a:defRPr sz="1400">
                <a:solidFill>
                  <a:srgbClr val="CCCCCC"/>
                </a:solidFill>
              </a:defRPr>
            </a:pPr>
            <a:r>
              <a:t>BLOCKING: Must pass before model fitting</a:t>
            </a:r>
          </a:p>
          <a:p>
            <a:pPr>
              <a:spcAft>
                <a:spcPts val="600"/>
              </a:spcAft>
              <a:defRPr sz="1400">
                <a:solidFill>
                  <a:srgbClr val="CCCCCC"/>
                </a:solidFill>
              </a:defRPr>
            </a:pPr>
            <a:r>
              <a:t>REQUIRED: Informs model choice</a:t>
            </a:r>
          </a:p>
          <a:p>
            <a:pPr>
              <a:spcAft>
                <a:spcPts val="600"/>
              </a:spcAft>
              <a:defRPr sz="1400">
                <a:solidFill>
                  <a:srgbClr val="CCCCCC"/>
                </a:solidFill>
              </a:defRPr>
            </a:pPr>
            <a:r>
              <a:t>ADVISORY: Reported but doesn't block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96D6"/>
                </a:solidFill>
              </a:defRPr>
            </a:pPr>
            <a:r>
              <a:t>Components: Test Executor &amp; LLM Reasoning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5303520" cy="4754880"/>
          </a:xfrm>
          <a:prstGeom prst="roundRect">
            <a:avLst/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6459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C98D"/>
                </a:solidFill>
              </a:defRPr>
            </a:pPr>
            <a:r>
              <a:t>3. Test Executor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1945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</a:defRPr>
            </a:pPr>
            <a:r>
              <a:t>Runs 15+ statistical tests via Python libraries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74320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CCCCCC"/>
                </a:solidFill>
              </a:defRPr>
            </a:pPr>
            <a:r>
              <a:t>Stationarity: ADF, KPSS (statsmodels)</a:t>
            </a:r>
          </a:p>
          <a:p>
            <a:pPr>
              <a:spcAft>
                <a:spcPts val="500"/>
              </a:spcAft>
              <a:defRPr sz="1300">
                <a:solidFill>
                  <a:srgbClr val="CCCCCC"/>
                </a:solidFill>
              </a:defRPr>
            </a:pPr>
            <a:r>
              <a:t>Cointegration: Johansen, Engle-Granger</a:t>
            </a:r>
          </a:p>
          <a:p>
            <a:pPr>
              <a:spcAft>
                <a:spcPts val="500"/>
              </a:spcAft>
              <a:defRPr sz="1300">
                <a:solidFill>
                  <a:srgbClr val="CCCCCC"/>
                </a:solidFill>
              </a:defRPr>
            </a:pPr>
            <a:r>
              <a:t>Autocorrelation: Ljung-Box, Durbin-Watson</a:t>
            </a:r>
          </a:p>
          <a:p>
            <a:pPr>
              <a:spcAft>
                <a:spcPts val="500"/>
              </a:spcAft>
              <a:defRPr sz="1300">
                <a:solidFill>
                  <a:srgbClr val="CCCCCC"/>
                </a:solidFill>
              </a:defRPr>
            </a:pPr>
            <a:r>
              <a:t>Heteroskedasticity: Breusch-Pagan, White</a:t>
            </a:r>
          </a:p>
          <a:p>
            <a:pPr>
              <a:spcAft>
                <a:spcPts val="500"/>
              </a:spcAft>
              <a:defRPr sz="1300">
                <a:solidFill>
                  <a:srgbClr val="CCCCCC"/>
                </a:solidFill>
              </a:defRPr>
            </a:pPr>
            <a:r>
              <a:t>Multicollinearity: VIF per variable</a:t>
            </a:r>
          </a:p>
          <a:p>
            <a:pPr>
              <a:spcAft>
                <a:spcPts val="500"/>
              </a:spcAft>
              <a:defRPr sz="1300">
                <a:solidFill>
                  <a:srgbClr val="CCCCCC"/>
                </a:solidFill>
              </a:defRPr>
            </a:pPr>
            <a:r>
              <a:t>Normality: Jarque-Bera, Shapiro-Wilk</a:t>
            </a:r>
          </a:p>
          <a:p>
            <a:pPr>
              <a:spcAft>
                <a:spcPts val="500"/>
              </a:spcAft>
              <a:defRPr sz="1300">
                <a:solidFill>
                  <a:srgbClr val="CCCCCC"/>
                </a:solidFill>
              </a:defRPr>
            </a:pPr>
            <a:r>
              <a:t>Model Selection: Hausman (FE vs RE)</a:t>
            </a:r>
          </a:p>
          <a:p>
            <a:pPr>
              <a:spcAft>
                <a:spcPts val="500"/>
              </a:spcAft>
              <a:defRPr sz="1300">
                <a:solidFill>
                  <a:srgbClr val="CCCCCC"/>
                </a:solidFill>
              </a:defRPr>
            </a:pPr>
            <a:r>
              <a:t>Causality: Granger causality by lag</a:t>
            </a:r>
          </a:p>
          <a:p>
            <a:pPr>
              <a:spcAft>
                <a:spcPts val="500"/>
              </a:spcAft>
              <a:defRPr sz="1300">
                <a:solidFill>
                  <a:srgbClr val="CCCCCC"/>
                </a:solidFill>
              </a:defRPr>
            </a:pPr>
            <a:r>
              <a:t>Instruments: Sargan / Hansen J-test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463040"/>
            <a:ext cx="5303520" cy="4754880"/>
          </a:xfrm>
          <a:prstGeom prst="roundRect">
            <a:avLst/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0" y="16459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A26AFF"/>
                </a:solidFill>
              </a:defRPr>
            </a:pPr>
            <a:r>
              <a:t>4. LLM Reasoning (Claude API)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0" y="21945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</a:defRPr>
            </a:pPr>
            <a:r>
              <a:t>Makes judgment calls within rule boundaries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274320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CCCCCC"/>
                </a:solidFill>
              </a:defRPr>
            </a:pPr>
            <a:r>
              <a:t>Multiple valid models -&gt; Rank by fit &amp; parsimony</a:t>
            </a:r>
          </a:p>
          <a:p>
            <a:pPr>
              <a:spcAft>
                <a:spcPts val="500"/>
              </a:spcAft>
              <a:defRPr sz="1300">
                <a:solidFill>
                  <a:srgbClr val="CCCCCC"/>
                </a:solidFill>
              </a:defRPr>
            </a:pPr>
            <a:r>
              <a:t>Borderline p-values -&gt; Suggest sensitivity analysis</a:t>
            </a:r>
          </a:p>
          <a:p>
            <a:pPr>
              <a:spcAft>
                <a:spcPts val="500"/>
              </a:spcAft>
              <a:defRPr sz="1300">
                <a:solidFill>
                  <a:srgbClr val="CCCCCC"/>
                </a:solidFill>
              </a:defRPr>
            </a:pPr>
            <a:r>
              <a:t>Contradictory tests -&gt; Weigh evidence &amp; trade-offs</a:t>
            </a:r>
          </a:p>
          <a:p>
            <a:pPr>
              <a:spcAft>
                <a:spcPts val="500"/>
              </a:spcAft>
              <a:defRPr sz="1300">
                <a:solidFill>
                  <a:srgbClr val="CCCCCC"/>
                </a:solidFill>
              </a:defRPr>
            </a:pPr>
            <a:r>
              <a:t>Data quality issues -&gt; Recommend preprocessing</a:t>
            </a:r>
          </a:p>
          <a:p>
            <a:pPr>
              <a:spcAft>
                <a:spcPts val="500"/>
              </a:spcAft>
              <a:defRPr sz="1300">
                <a:solidFill>
                  <a:srgbClr val="CCCCCC"/>
                </a:solidFill>
              </a:defRPr>
            </a:pPr>
            <a:r>
              <a:t>Result interpretation -&gt; Plain-English summary</a:t>
            </a:r>
          </a:p>
          <a:p>
            <a:pPr>
              <a:spcAft>
                <a:spcPts val="500"/>
              </a:spcAft>
              <a:defRPr sz="1300">
                <a:solidFill>
                  <a:srgbClr val="CCCCCC"/>
                </a:solidFill>
              </a:defRPr>
            </a:pPr>
          </a:p>
          <a:p>
            <a:pPr>
              <a:spcAft>
                <a:spcPts val="500"/>
              </a:spcAft>
              <a:defRPr sz="1300">
                <a:solidFill>
                  <a:srgbClr val="CCCCCC"/>
                </a:solidFill>
              </a:defRPr>
            </a:pPr>
            <a:r>
              <a:t>OUTPUT:</a:t>
            </a:r>
          </a:p>
          <a:p>
            <a:pPr>
              <a:spcAft>
                <a:spcPts val="500"/>
              </a:spcAft>
              <a:defRPr sz="1300">
                <a:solidFill>
                  <a:srgbClr val="CCCCCC"/>
                </a:solidFill>
              </a:defRPr>
            </a:pPr>
            <a:r>
              <a:t>  Recommended model + reasoning</a:t>
            </a:r>
          </a:p>
          <a:p>
            <a:pPr>
              <a:spcAft>
                <a:spcPts val="500"/>
              </a:spcAft>
              <a:defRPr sz="1300">
                <a:solidFill>
                  <a:srgbClr val="CCCCCC"/>
                </a:solidFill>
              </a:defRPr>
            </a:pPr>
            <a:r>
              <a:t>  Confidence: HIGH / MEDIUM / LOW</a:t>
            </a:r>
          </a:p>
          <a:p>
            <a:pPr>
              <a:spcAft>
                <a:spcPts val="500"/>
              </a:spcAft>
              <a:defRPr sz="1300">
                <a:solidFill>
                  <a:srgbClr val="CCCCCC"/>
                </a:solidFill>
              </a:defRPr>
            </a:pPr>
            <a:r>
              <a:t>  Alternative models + robustness checks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96D6"/>
                </a:solidFill>
              </a:defRPr>
            </a:pPr>
            <a:r>
              <a:t>Components: Validator &amp; Pipeline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5303520" cy="4754880"/>
          </a:xfrm>
          <a:prstGeom prst="roundRect">
            <a:avLst/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6459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4D6D"/>
                </a:solidFill>
              </a:defRPr>
            </a:pPr>
            <a:r>
              <a:t>5. Validator (Guardrails)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1945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</a:defRPr>
            </a:pPr>
            <a:r>
              <a:t>Catches hallucinations &amp; invalid recommendations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74320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CCCCCC"/>
                </a:solidFill>
              </a:defRPr>
            </a:pPr>
            <a:r>
              <a:t>Model in ValidMethods list? -&gt; else REJECT</a:t>
            </a:r>
          </a:p>
          <a:p>
            <a:pPr>
              <a:spcAft>
                <a:spcPts val="500"/>
              </a:spcAft>
              <a:defRPr sz="1300">
                <a:solidFill>
                  <a:srgbClr val="CCCCCC"/>
                </a:solidFill>
              </a:defRPr>
            </a:pPr>
            <a:r>
              <a:t>All required tests completed? -&gt; else REJECT</a:t>
            </a:r>
          </a:p>
          <a:p>
            <a:pPr>
              <a:spcAft>
                <a:spcPts val="500"/>
              </a:spcAft>
              <a:defRPr sz="1300">
                <a:solidFill>
                  <a:srgbClr val="CCCCCC"/>
                </a:solidFill>
              </a:defRPr>
            </a:pPr>
            <a:r>
              <a:t>Statistical claims match p-values? -&gt; else REJECT</a:t>
            </a:r>
          </a:p>
          <a:p>
            <a:pPr>
              <a:spcAft>
                <a:spcPts val="500"/>
              </a:spcAft>
              <a:defRPr sz="1300">
                <a:solidFill>
                  <a:srgbClr val="CCCCCC"/>
                </a:solidFill>
              </a:defRPr>
            </a:pPr>
            <a:r>
              <a:t>Blocking tests passed first? -&gt; else HALT</a:t>
            </a:r>
          </a:p>
          <a:p>
            <a:pPr>
              <a:spcAft>
                <a:spcPts val="500"/>
              </a:spcAft>
              <a:defRPr sz="1300">
                <a:solidFill>
                  <a:srgbClr val="CCCCCC"/>
                </a:solidFill>
              </a:defRPr>
            </a:pPr>
            <a:r>
              <a:t>Low confidence? -&gt; FLAG for human review</a:t>
            </a:r>
          </a:p>
          <a:p>
            <a:pPr>
              <a:spcAft>
                <a:spcPts val="500"/>
              </a:spcAft>
              <a:defRPr sz="1300">
                <a:solidFill>
                  <a:srgbClr val="CCCCCC"/>
                </a:solidFill>
              </a:defRPr>
            </a:pPr>
          </a:p>
          <a:p>
            <a:pPr>
              <a:spcAft>
                <a:spcPts val="500"/>
              </a:spcAft>
              <a:defRPr sz="1300">
                <a:solidFill>
                  <a:srgbClr val="CCCCCC"/>
                </a:solidFill>
              </a:defRPr>
            </a:pPr>
            <a:r>
              <a:t>Re-prompt loop (max 3 attempts):</a:t>
            </a:r>
          </a:p>
          <a:p>
            <a:pPr>
              <a:spcAft>
                <a:spcPts val="500"/>
              </a:spcAft>
              <a:defRPr sz="1300">
                <a:solidFill>
                  <a:srgbClr val="CCCCCC"/>
                </a:solidFill>
              </a:defRPr>
            </a:pPr>
            <a:r>
              <a:t>  Attempt 1: Standard prompt</a:t>
            </a:r>
          </a:p>
          <a:p>
            <a:pPr>
              <a:spcAft>
                <a:spcPts val="500"/>
              </a:spcAft>
              <a:defRPr sz="1300">
                <a:solidFill>
                  <a:srgbClr val="CCCCCC"/>
                </a:solidFill>
              </a:defRPr>
            </a:pPr>
            <a:r>
              <a:t>  Attempt 2: Add specific error context</a:t>
            </a:r>
          </a:p>
          <a:p>
            <a:pPr>
              <a:spcAft>
                <a:spcPts val="500"/>
              </a:spcAft>
              <a:defRPr sz="1300">
                <a:solidFill>
                  <a:srgbClr val="CCCCCC"/>
                </a:solidFill>
              </a:defRPr>
            </a:pPr>
            <a:r>
              <a:t>  Attempt 3: Chain-of-thought required</a:t>
            </a:r>
          </a:p>
          <a:p>
            <a:pPr>
              <a:spcAft>
                <a:spcPts val="500"/>
              </a:spcAft>
              <a:defRPr sz="1300">
                <a:solidFill>
                  <a:srgbClr val="CCCCCC"/>
                </a:solidFill>
              </a:defRPr>
            </a:pPr>
            <a:r>
              <a:t>  After 3: Return error + partial results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463040"/>
            <a:ext cx="5303520" cy="4754880"/>
          </a:xfrm>
          <a:prstGeom prst="roundRect">
            <a:avLst/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0" y="16459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96D6"/>
                </a:solidFill>
              </a:defRPr>
            </a:pPr>
            <a:r>
              <a:t>6. Pipeline Orchestrator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0" y="21945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</a:defRPr>
            </a:pPr>
            <a:r>
              <a:t>State machine wiring all components together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274320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CCCCCC"/>
                </a:solidFill>
              </a:defRPr>
            </a:pPr>
            <a:r>
              <a:t>START</a:t>
            </a:r>
          </a:p>
          <a:p>
            <a:pPr>
              <a:spcAft>
                <a:spcPts val="500"/>
              </a:spcAft>
              <a:defRPr sz="1300">
                <a:solidFill>
                  <a:srgbClr val="CCCCCC"/>
                </a:solidFill>
              </a:defRPr>
            </a:pPr>
            <a:r>
              <a:t>  -&gt; PROFILING (create DataProfile)</a:t>
            </a:r>
          </a:p>
          <a:p>
            <a:pPr>
              <a:spcAft>
                <a:spcPts val="500"/>
              </a:spcAft>
              <a:defRPr sz="1300">
                <a:solidFill>
                  <a:srgbClr val="CCCCCC"/>
                </a:solidFill>
              </a:defRPr>
            </a:pPr>
            <a:r>
              <a:t>  -&gt; RULE_CHECK (determine tests + methods)</a:t>
            </a:r>
          </a:p>
          <a:p>
            <a:pPr>
              <a:spcAft>
                <a:spcPts val="500"/>
              </a:spcAft>
              <a:defRPr sz="1300">
                <a:solidFill>
                  <a:srgbClr val="CCCCCC"/>
                </a:solidFill>
              </a:defRPr>
            </a:pPr>
            <a:r>
              <a:t>  -&gt; TESTING (run tests, may loop)</a:t>
            </a:r>
          </a:p>
          <a:p>
            <a:pPr>
              <a:spcAft>
                <a:spcPts val="500"/>
              </a:spcAft>
              <a:defRPr sz="1300">
                <a:solidFill>
                  <a:srgbClr val="CCCCCC"/>
                </a:solidFill>
              </a:defRPr>
            </a:pPr>
            <a:r>
              <a:t>  -&gt; REASONING (LLM generates recommendation)</a:t>
            </a:r>
          </a:p>
          <a:p>
            <a:pPr>
              <a:spcAft>
                <a:spcPts val="500"/>
              </a:spcAft>
              <a:defRPr sz="1300">
                <a:solidFill>
                  <a:srgbClr val="CCCCCC"/>
                </a:solidFill>
              </a:defRPr>
            </a:pPr>
            <a:r>
              <a:t>  -&gt; VALIDATING (check recommendation)</a:t>
            </a:r>
          </a:p>
          <a:p>
            <a:pPr>
              <a:spcAft>
                <a:spcPts val="500"/>
              </a:spcAft>
              <a:defRPr sz="1300">
                <a:solidFill>
                  <a:srgbClr val="CCCCCC"/>
                </a:solidFill>
              </a:defRPr>
            </a:pPr>
            <a:r>
              <a:t>       -&gt; INVALID? Loop to REASONING (max 3x)</a:t>
            </a:r>
          </a:p>
          <a:p>
            <a:pPr>
              <a:spcAft>
                <a:spcPts val="500"/>
              </a:spcAft>
              <a:defRPr sz="1300">
                <a:solidFill>
                  <a:srgbClr val="CCCCCC"/>
                </a:solidFill>
              </a:defRPr>
            </a:pPr>
            <a:r>
              <a:t>  -&gt; REPORTING (generate final output)</a:t>
            </a:r>
          </a:p>
          <a:p>
            <a:pPr>
              <a:spcAft>
                <a:spcPts val="500"/>
              </a:spcAft>
              <a:defRPr sz="1300">
                <a:solidFill>
                  <a:srgbClr val="CCCCCC"/>
                </a:solidFill>
              </a:defRPr>
            </a:pPr>
            <a:r>
              <a:t>  -&gt; DONE</a:t>
            </a:r>
          </a:p>
          <a:p>
            <a:pPr>
              <a:spcAft>
                <a:spcPts val="500"/>
              </a:spcAft>
              <a:defRPr sz="1300">
                <a:solidFill>
                  <a:srgbClr val="CCCCCC"/>
                </a:solidFill>
              </a:defRPr>
            </a:pPr>
          </a:p>
          <a:p>
            <a:pPr>
              <a:spcAft>
                <a:spcPts val="500"/>
              </a:spcAft>
              <a:defRPr sz="1300">
                <a:solidFill>
                  <a:srgbClr val="CCCCCC"/>
                </a:solidFill>
              </a:defRPr>
            </a:pPr>
            <a:r>
              <a:t>Full audit trail stored in SQLite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96D6"/>
                </a:solidFill>
              </a:defRPr>
            </a:pPr>
            <a:r>
              <a:t>Data Flow Example: GDP Time Series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0C98D"/>
                </a:solidFill>
              </a:defRPr>
            </a:pPr>
            <a:r>
              <a:t>User uploads quarterly GDP data and asks: "What drives GDP growth?"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737360"/>
            <a:ext cx="3474720" cy="1280160"/>
          </a:xfrm>
          <a:prstGeom prst="roundRect">
            <a:avLst/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68680" y="1874520"/>
            <a:ext cx="365760" cy="365760"/>
          </a:xfrm>
          <a:prstGeom prst="ellipse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901952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18745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96D6"/>
                </a:solidFill>
              </a:defRPr>
            </a:pPr>
            <a:r>
              <a:t>Profiler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224028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</a:defRPr>
            </a:pPr>
            <a:r>
              <a:t>Time series, quarterly, 3 vars, 140 obs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59" y="1737360"/>
            <a:ext cx="3474720" cy="1280160"/>
          </a:xfrm>
          <a:prstGeom prst="roundRect">
            <a:avLst/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617719" y="1874520"/>
            <a:ext cx="365760" cy="36576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7719" y="1901952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74919" y="18745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8C42"/>
                </a:solidFill>
              </a:defRPr>
            </a:pPr>
            <a:r>
              <a:t>Rules (Pass 1)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74919" y="224028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</a:defRPr>
            </a:pPr>
            <a:r>
              <a:t>Required: ADF, KPSS, Ljung-Box, Chow test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598" y="1737360"/>
            <a:ext cx="3474720" cy="1280160"/>
          </a:xfrm>
          <a:prstGeom prst="roundRect">
            <a:avLst/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366758" y="1874520"/>
            <a:ext cx="365760" cy="365760"/>
          </a:xfrm>
          <a:prstGeom prst="ellipse">
            <a:avLst/>
          </a:prstGeom>
          <a:solidFill>
            <a:srgbClr val="00C9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66758" y="1901952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23958" y="18745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C98D"/>
                </a:solidFill>
              </a:defRPr>
            </a:pPr>
            <a:r>
              <a:t>Executor (Round 1)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23958" y="224028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</a:defRPr>
            </a:pPr>
            <a:r>
              <a:t>ADF p=0.34 (non-stationary), KPSS confirms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3291840"/>
            <a:ext cx="3474720" cy="1280160"/>
          </a:xfrm>
          <a:prstGeom prst="roundRect">
            <a:avLst/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68680" y="3429000"/>
            <a:ext cx="365760" cy="36576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3456432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25880" y="34290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8C42"/>
                </a:solidFill>
              </a:defRPr>
            </a:pPr>
            <a:r>
              <a:t>Rules (Pass 2)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25880" y="379476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</a:defRPr>
            </a:pPr>
            <a:r>
              <a:t>Non-stationary -&gt; MUST test cointegration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480559" y="3291840"/>
            <a:ext cx="3474720" cy="1280160"/>
          </a:xfrm>
          <a:prstGeom prst="roundRect">
            <a:avLst/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617719" y="3429000"/>
            <a:ext cx="365760" cy="365760"/>
          </a:xfrm>
          <a:prstGeom prst="ellipse">
            <a:avLst/>
          </a:prstGeom>
          <a:solidFill>
            <a:srgbClr val="00C9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17719" y="3456432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74919" y="34290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C98D"/>
                </a:solidFill>
              </a:defRPr>
            </a:pPr>
            <a:r>
              <a:t>Executor (Round 2)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74919" y="379476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</a:defRPr>
            </a:pPr>
            <a:r>
              <a:t>Johansen: 2 cointegrating relationships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229598" y="3291840"/>
            <a:ext cx="3474720" cy="1280160"/>
          </a:xfrm>
          <a:prstGeom prst="roundRect">
            <a:avLst/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366758" y="3429000"/>
            <a:ext cx="365760" cy="36576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66758" y="3456432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23958" y="34290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8C42"/>
                </a:solidFill>
              </a:defRPr>
            </a:pPr>
            <a:r>
              <a:t>Rules (Pass 3)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823958" y="379476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</a:defRPr>
            </a:pPr>
            <a:r>
              <a:t>Narrowed methods: VECM, ARDL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31520" y="4846320"/>
            <a:ext cx="3474720" cy="1280160"/>
          </a:xfrm>
          <a:prstGeom prst="roundRect">
            <a:avLst/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68680" y="4983480"/>
            <a:ext cx="365760" cy="365760"/>
          </a:xfrm>
          <a:prstGeom prst="ellipse">
            <a:avLst/>
          </a:prstGeom>
          <a:solidFill>
            <a:srgbClr val="A26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68680" y="5010912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25880" y="49834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26AFF"/>
                </a:solidFill>
              </a:defRPr>
            </a:pPr>
            <a:r>
              <a:t>LLM Reasoning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325880" y="534924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</a:defRPr>
            </a:pPr>
            <a:r>
              <a:t>Recommends VECM(2), explains why not ARIMA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480559" y="4846320"/>
            <a:ext cx="3474720" cy="1280160"/>
          </a:xfrm>
          <a:prstGeom prst="roundRect">
            <a:avLst/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4617719" y="4983480"/>
            <a:ext cx="365760" cy="365760"/>
          </a:xfrm>
          <a:prstGeom prst="ellipse">
            <a:avLst/>
          </a:prstGeom>
          <a:solidFill>
            <a:srgbClr val="FF4D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617719" y="5010912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8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074919" y="49834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4D6D"/>
                </a:solidFill>
              </a:defRPr>
            </a:pPr>
            <a:r>
              <a:t>Validator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074919" y="534924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</a:defRPr>
            </a:pPr>
            <a:r>
              <a:t>All checks PASS, confidence HIGH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229598" y="4846320"/>
            <a:ext cx="3474720" cy="1280160"/>
          </a:xfrm>
          <a:prstGeom prst="roundRect">
            <a:avLst/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8366758" y="4983480"/>
            <a:ext cx="365760" cy="365760"/>
          </a:xfrm>
          <a:prstGeom prst="ellipse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366758" y="5010912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9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823958" y="49834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96D6"/>
                </a:solidFill>
              </a:defRPr>
            </a:pPr>
            <a:r>
              <a:t>Output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823958" y="534924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</a:defRPr>
            </a:pPr>
            <a:r>
              <a:t>VECM + full test report + audit trail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96D6"/>
                </a:solidFill>
              </a:defRPr>
            </a:pPr>
            <a:r>
              <a:t>Decision Engine: Model Selection Logic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463040"/>
            <a:ext cx="3657600" cy="4937760"/>
          </a:xfrm>
          <a:prstGeom prst="roundRect">
            <a:avLst/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C98D"/>
                </a:solidFill>
              </a:defRPr>
            </a:pPr>
            <a:r>
              <a:t>Time Series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03120"/>
            <a:ext cx="3200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</a:defRPr>
            </a:pPr>
            <a:r>
              <a:t>Run ADF + KPSS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</a:defRPr>
            </a:pPr>
            <a:r>
              <a:t>  Stationary?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</a:defRPr>
            </a:pPr>
            <a:r>
              <a:t>    YES -&gt; ARIMA / VAR / OLS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</a:defRPr>
            </a:pPr>
            <a:r>
              <a:t>    NO -&gt; Test cointegration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</a:defRPr>
            </a:pPr>
            <a:r>
              <a:t>      Cointegrated?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</a:defRPr>
            </a:pPr>
            <a:r>
              <a:t>        YES -&gt; VECM / ARDL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</a:defRPr>
            </a:pPr>
            <a:r>
              <a:t>        NO -&gt; VAR in differences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</a:defRPr>
            </a:pPr>
            <a:r>
              <a:t>  Check structural breaks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</a:defRPr>
            </a:pPr>
            <a:r>
              <a:t>  Check Granger causality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1463040"/>
            <a:ext cx="3657600" cy="4937760"/>
          </a:xfrm>
          <a:prstGeom prst="roundRect">
            <a:avLst/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16459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8C42"/>
                </a:solidFill>
              </a:defRPr>
            </a:pPr>
            <a:r>
              <a:t>Cross-Section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2103120"/>
            <a:ext cx="3200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</a:defRPr>
            </a:pPr>
            <a:r>
              <a:t>Check DV type: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</a:defRPr>
            </a:pPr>
            <a:r>
              <a:t>  Continuous -&gt; OLS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</a:defRPr>
            </a:pPr>
            <a:r>
              <a:t>  Binary -&gt; Logit / Probit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</a:defRPr>
            </a:pPr>
            <a:r>
              <a:t>  Count -&gt; Poisson / NB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</a:defRPr>
            </a:pPr>
            <a:r>
              <a:t>Check endogeneity: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</a:defRPr>
            </a:pPr>
            <a:r>
              <a:t>  YES -&gt; IV / 2SLS / GMM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</a:defRPr>
            </a:pPr>
            <a:r>
              <a:t>  NO -&gt; Standard estimation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</a:defRPr>
            </a:pPr>
            <a:r>
              <a:t>Check heteroskedasticity: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</a:defRPr>
            </a:pPr>
            <a:r>
              <a:t>  YES -&gt; Robust SE / WLS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</a:defRPr>
            </a:pPr>
            <a:r>
              <a:t>  NO -&gt; Standard SE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38160" y="1463040"/>
            <a:ext cx="3657600" cy="4937760"/>
          </a:xfrm>
          <a:prstGeom prst="roundRect">
            <a:avLst/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0" y="16459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A26AFF"/>
                </a:solidFill>
              </a:defRPr>
            </a:pPr>
            <a:r>
              <a:t>Panel 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0" y="2103120"/>
            <a:ext cx="3200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</a:defRPr>
            </a:pPr>
            <a:r>
              <a:t>Run Hausman test: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</a:defRPr>
            </a:pPr>
            <a:r>
              <a:t>  Reject H0 -&gt; Fixed Effects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</a:defRPr>
            </a:pPr>
            <a:r>
              <a:t>  Fail to reject -&gt; Random Effects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</a:defRPr>
            </a:pPr>
            <a:r>
              <a:t>Check serial correlation: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</a:defRPr>
            </a:pPr>
            <a:r>
              <a:t>  YES -&gt; Clustered SE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</a:defRPr>
            </a:pPr>
            <a:r>
              <a:t>  NO -&gt; Standard SE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</a:defRPr>
            </a:pPr>
            <a:r>
              <a:t>Check cross-section dependence: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</a:defRPr>
            </a:pPr>
            <a:r>
              <a:t>  YES -&gt; Driscoll-Kraay SE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</a:defRPr>
            </a:pPr>
            <a:r>
              <a:t>  NO -&gt; Standard approach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96D6"/>
                </a:solidFill>
              </a:defRPr>
            </a:pPr>
            <a:r>
              <a:t>Technology Stack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3474720" cy="1005840"/>
          </a:xfrm>
          <a:prstGeom prst="roundRect">
            <a:avLst/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5544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96D6"/>
                </a:solidFill>
              </a:defRPr>
            </a:pPr>
            <a:r>
              <a:t>Core Language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92024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</a:defRPr>
            </a:pPr>
            <a:r>
              <a:t>Python 3.11+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80559" y="1463040"/>
            <a:ext cx="3474720" cy="1005840"/>
          </a:xfrm>
          <a:prstGeom prst="roundRect">
            <a:avLst/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79" y="15544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C98D"/>
                </a:solidFill>
              </a:defRPr>
            </a:pPr>
            <a:r>
              <a:t>Data Handling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79" y="192024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</a:defRPr>
            </a:pPr>
            <a:r>
              <a:t>pandas, numpy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598" y="1463040"/>
            <a:ext cx="3474720" cy="1005840"/>
          </a:xfrm>
          <a:prstGeom prst="roundRect">
            <a:avLst/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03918" y="15544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C98D"/>
                </a:solidFill>
              </a:defRPr>
            </a:pPr>
            <a:r>
              <a:t>Statistical Tests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18" y="192024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</a:defRPr>
            </a:pPr>
            <a:r>
              <a:t>statsmodels, scipy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651760"/>
            <a:ext cx="3474720" cy="1005840"/>
          </a:xfrm>
          <a:prstGeom prst="roundRect">
            <a:avLst/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27432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C98D"/>
                </a:solidFill>
              </a:defRPr>
            </a:pPr>
            <a:r>
              <a:t>Panel / IV Models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310896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</a:defRPr>
            </a:pPr>
            <a:r>
              <a:t>linearmodels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80559" y="2651760"/>
            <a:ext cx="3474720" cy="1005840"/>
          </a:xfrm>
          <a:prstGeom prst="roundRect">
            <a:avLst/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54879" y="27432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C98D"/>
                </a:solidFill>
              </a:defRPr>
            </a:pPr>
            <a:r>
              <a:t>Volatility Models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79" y="310896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</a:defRPr>
            </a:pPr>
            <a:r>
              <a:t>arch (GARCH)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598" y="2651760"/>
            <a:ext cx="3474720" cy="1005840"/>
          </a:xfrm>
          <a:prstGeom prst="roundRect">
            <a:avLst/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03918" y="27432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8C42"/>
                </a:solidFill>
              </a:defRPr>
            </a:pPr>
            <a:r>
              <a:t>Type Safety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18" y="310896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</a:defRPr>
            </a:pPr>
            <a:r>
              <a:t>Pydantic v2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3840480"/>
            <a:ext cx="3474720" cy="1005840"/>
          </a:xfrm>
          <a:prstGeom prst="roundRect">
            <a:avLst/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39319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A26AFF"/>
                </a:solidFill>
              </a:defRPr>
            </a:pPr>
            <a:r>
              <a:t>LLM Integration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429768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</a:defRPr>
            </a:pPr>
            <a:r>
              <a:t>anthropic SDK (Claude API)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480559" y="3840480"/>
            <a:ext cx="3474720" cy="1005840"/>
          </a:xfrm>
          <a:prstGeom prst="roundRect">
            <a:avLst/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54879" y="39319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8C42"/>
                </a:solidFill>
              </a:defRPr>
            </a:pPr>
            <a:r>
              <a:t>Orchestration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54879" y="429768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</a:defRPr>
            </a:pPr>
            <a:r>
              <a:t>Custom state machine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29598" y="3840480"/>
            <a:ext cx="3474720" cy="1005840"/>
          </a:xfrm>
          <a:prstGeom prst="roundRect">
            <a:avLst/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503918" y="39319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8C42"/>
                </a:solidFill>
              </a:defRPr>
            </a:pPr>
            <a:r>
              <a:t>Audit Storage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03918" y="429768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</a:defRPr>
            </a:pPr>
            <a:r>
              <a:t>SQLite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31520" y="5029200"/>
            <a:ext cx="3474720" cy="1005840"/>
          </a:xfrm>
          <a:prstGeom prst="roundRect">
            <a:avLst/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05840" y="512064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96D6"/>
                </a:solidFill>
              </a:defRPr>
            </a:pPr>
            <a:r>
              <a:t>Frontend (MVP)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5840" y="548640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</a:defRPr>
            </a:pPr>
            <a:r>
              <a:t>Streamlit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480559" y="5029200"/>
            <a:ext cx="3474720" cy="1005840"/>
          </a:xfrm>
          <a:prstGeom prst="roundRect">
            <a:avLst/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754879" y="512064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96D6"/>
                </a:solidFill>
              </a:defRPr>
            </a:pPr>
            <a:r>
              <a:t>Frontend (v2)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754879" y="548640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</a:defRPr>
            </a:pPr>
            <a:r>
              <a:t>FastAPI + React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229598" y="5029200"/>
            <a:ext cx="3474720" cy="1005840"/>
          </a:xfrm>
          <a:prstGeom prst="roundRect">
            <a:avLst/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503918" y="512064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4D6D"/>
                </a:solidFill>
              </a:defRPr>
            </a:pPr>
            <a:r>
              <a:t>Testing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503918" y="548640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</a:defRPr>
            </a:pPr>
            <a:r>
              <a:t>pytest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96D6"/>
                </a:solidFill>
              </a:defRPr>
            </a:pPr>
            <a:r>
              <a:t>Use Cases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303520" cy="2286000"/>
          </a:xfrm>
          <a:prstGeom prst="roundRect">
            <a:avLst/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1554480"/>
            <a:ext cx="1645920" cy="320040"/>
          </a:xfrm>
          <a:prstGeom prst="roundRect">
            <a:avLst/>
          </a:prstGeom>
          <a:solidFill>
            <a:srgbClr val="00C9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72768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Time Series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155448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GDP Forecasting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011680"/>
            <a:ext cx="4754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</a:defRPr>
            </a:pPr>
            <a:r>
              <a:t>Quarterly GDP data</a:t>
            </a:r>
            <a:br/>
            <a:r>
              <a:t>-&gt; VECM with cointegration</a:t>
            </a:r>
            <a:br/>
            <a:r>
              <a:t>-&gt; Impulse response functions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01752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99"/>
                </a:solidFill>
              </a:defRPr>
            </a:pPr>
            <a:r>
              <a:t>Tests: ADF, KPSS, Johansen, Granger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371600"/>
            <a:ext cx="5303520" cy="2286000"/>
          </a:xfrm>
          <a:prstGeom prst="roundRect">
            <a:avLst/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583680" y="1554480"/>
            <a:ext cx="1645920" cy="320040"/>
          </a:xfrm>
          <a:prstGeom prst="round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572768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Cross-Section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0" y="155448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Wage Determinants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2011680"/>
            <a:ext cx="4754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</a:defRPr>
            </a:pPr>
            <a:r>
              <a:t>Individual wage data</a:t>
            </a:r>
            <a:br/>
            <a:r>
              <a:t>-&gt; OLS with robust SE</a:t>
            </a:r>
            <a:br/>
            <a:r>
              <a:t>-&gt; Mincer equation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301752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99"/>
                </a:solidFill>
              </a:defRPr>
            </a:pPr>
            <a:r>
              <a:t>Tests: VIF, Breusch-Pagan, RESET, JB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931920"/>
            <a:ext cx="5303520" cy="2286000"/>
          </a:xfrm>
          <a:prstGeom prst="roundRect">
            <a:avLst/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14400" y="4114800"/>
            <a:ext cx="1645920" cy="320040"/>
          </a:xfrm>
          <a:prstGeom prst="roundRect">
            <a:avLst/>
          </a:prstGeom>
          <a:solidFill>
            <a:srgbClr val="A26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133088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Panel Data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0" y="411480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Policy Effect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4572000"/>
            <a:ext cx="4754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</a:defRPr>
            </a:pPr>
            <a:r>
              <a:t>50 states x 20 years</a:t>
            </a:r>
            <a:br/>
            <a:r>
              <a:t>-&gt; Fixed Effects + DID</a:t>
            </a:r>
            <a:br/>
            <a:r>
              <a:t>-&gt; Clustered 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557784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99"/>
                </a:solidFill>
              </a:defRPr>
            </a:pPr>
            <a:r>
              <a:t>Tests: Hausman, Wooldridge, Pesaran CD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0" y="3931920"/>
            <a:ext cx="5303520" cy="2286000"/>
          </a:xfrm>
          <a:prstGeom prst="roundRect">
            <a:avLst/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583680" y="4114800"/>
            <a:ext cx="1645920" cy="320040"/>
          </a:xfrm>
          <a:prstGeom prst="roundRect">
            <a:avLst/>
          </a:prstGeom>
          <a:solidFill>
            <a:srgbClr val="FF4D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0" y="4133088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Causal / IV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80" y="411480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Returns to Education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75120" y="4572000"/>
            <a:ext cx="4754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</a:defRPr>
            </a:pPr>
            <a:r>
              <a:t>Wage + education data</a:t>
            </a:r>
            <a:br/>
            <a:r>
              <a:t>-&gt; IV/2SLS</a:t>
            </a:r>
            <a:br/>
            <a:r>
              <a:t>-&gt; College proximity instrument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75120" y="557784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99"/>
                </a:solidFill>
              </a:defRPr>
            </a:pPr>
            <a:r>
              <a:t>Tests: Hausman, Sargan, Weak instrument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96D6"/>
                </a:solidFill>
              </a:defRPr>
            </a:pPr>
            <a:r>
              <a:t>Build Roadmap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463040"/>
            <a:ext cx="2103120" cy="4754880"/>
          </a:xfrm>
          <a:prstGeom prst="roundRect">
            <a:avLst/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463040"/>
            <a:ext cx="2103120" cy="914400"/>
          </a:xfrm>
          <a:prstGeom prst="rect">
            <a:avLst/>
          </a:prstGeom>
          <a:solidFill>
            <a:srgbClr val="00C9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Phase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Core Engine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10312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</a:defRPr>
            </a:pPr>
            <a:r>
              <a:t>Week 1-2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560320"/>
            <a:ext cx="17373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</a:defRPr>
            </a:pPr>
            <a:r>
              <a:t>Pydantic schemas</a:t>
            </a:r>
            <a:br/>
            <a:r>
              <a:t>Data profiler</a:t>
            </a:r>
            <a:br/>
            <a:r>
              <a:t>Rule engine</a:t>
            </a:r>
            <a:br/>
            <a:r>
              <a:t>Test executor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0" y="1463040"/>
            <a:ext cx="2103120" cy="4754880"/>
          </a:xfrm>
          <a:prstGeom prst="roundRect">
            <a:avLst/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0" y="1463040"/>
            <a:ext cx="2103120" cy="914400"/>
          </a:xfrm>
          <a:prstGeom prst="rect">
            <a:avLst/>
          </a:prstGeom>
          <a:solidFill>
            <a:srgbClr val="A26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0" y="155448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Phase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182880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Intelligence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210312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</a:defRPr>
            </a:pPr>
            <a:r>
              <a:t>Week 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2560320"/>
            <a:ext cx="17373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</a:defRPr>
            </a:pPr>
            <a:r>
              <a:t>LLM reasoning (Claude API)</a:t>
            </a:r>
            <a:br/>
            <a:r>
              <a:t>Validator guardrails</a:t>
            </a:r>
            <a:br/>
            <a:r>
              <a:t>Pipeline orchestrator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0" y="1463040"/>
            <a:ext cx="2103120" cy="4754880"/>
          </a:xfrm>
          <a:prstGeom prst="roundRect">
            <a:avLst/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9200" y="1463040"/>
            <a:ext cx="2103120" cy="914400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0" y="155448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Phase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0" y="182880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Testing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0" y="210312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</a:defRPr>
            </a:pPr>
            <a:r>
              <a:t>Week 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12080" y="2560320"/>
            <a:ext cx="17373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</a:defRPr>
            </a:pPr>
            <a:r>
              <a:t>Unit tests (all components)</a:t>
            </a:r>
            <a:br/>
            <a:r>
              <a:t>Integration tests</a:t>
            </a:r>
            <a:br/>
            <a:r>
              <a:t>Benchmark vs known analyses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0" y="1463040"/>
            <a:ext cx="2103120" cy="4754880"/>
          </a:xfrm>
          <a:prstGeom prst="roundRect">
            <a:avLst/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15200" y="1463040"/>
            <a:ext cx="2103120" cy="9144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0" y="155448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Phase 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0" y="182880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MVP Frontend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0" y="210312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</a:defRPr>
            </a:pPr>
            <a:r>
              <a:t>Week 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80" y="2560320"/>
            <a:ext cx="17373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</a:defRPr>
            </a:pPr>
            <a:r>
              <a:t>Streamlit app</a:t>
            </a:r>
            <a:br/>
            <a:r>
              <a:t>File upload + results</a:t>
            </a:r>
            <a:br/>
            <a:r>
              <a:t>PDF report export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601200" y="1463040"/>
            <a:ext cx="2103120" cy="4754880"/>
          </a:xfrm>
          <a:prstGeom prst="roundRect">
            <a:avLst/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601200" y="1463040"/>
            <a:ext cx="2103120" cy="914400"/>
          </a:xfrm>
          <a:prstGeom prst="rect">
            <a:avLst/>
          </a:prstGeom>
          <a:solidFill>
            <a:srgbClr val="FF4D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601200" y="155448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Phase 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01200" y="182880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Production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01200" y="210312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</a:defRPr>
            </a:pPr>
            <a:r>
              <a:t>Week 6+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784080" y="2560320"/>
            <a:ext cx="17373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</a:defRPr>
            </a:pPr>
            <a:r>
              <a:t>FastAPI + React</a:t>
            </a:r>
            <a:br/>
            <a:r>
              <a:t>User accounts + history</a:t>
            </a:r>
            <a:br/>
            <a:r>
              <a:t>Additional methods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96D6"/>
                </a:solidFill>
              </a:defRPr>
            </a:pPr>
            <a:r>
              <a:t>Risks &amp; Mitigations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10515600" cy="502920"/>
          </a:xfrm>
          <a:prstGeom prst="round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53619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</a:defRPr>
            </a:pPr>
            <a:r>
              <a:t>Risk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0" y="1536192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</a:defRPr>
            </a:pPr>
            <a:r>
              <a:t>Likelihood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1536192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</a:defRPr>
            </a:pPr>
            <a:r>
              <a:t>Mitigation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011680"/>
            <a:ext cx="10515600" cy="594360"/>
          </a:xfrm>
          <a:prstGeom prst="roundRect">
            <a:avLst/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12140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LLM Hallucination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2121408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8C42"/>
                </a:solidFill>
              </a:defRPr>
            </a:pPr>
            <a:r>
              <a:t>Medium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212140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</a:defRPr>
            </a:pPr>
            <a:r>
              <a:t>Validator layer + constrained output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697480"/>
            <a:ext cx="10515600" cy="594360"/>
          </a:xfrm>
          <a:prstGeom prst="roundRect">
            <a:avLst/>
          </a:prstGeom>
          <a:solidFill>
            <a:srgbClr val="1E1E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80720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Missing Rule Edge Case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0" y="2807208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8C42"/>
                </a:solidFill>
              </a:defRPr>
            </a:pPr>
            <a:r>
              <a:t>Medium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0" y="280720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</a:defRPr>
            </a:pPr>
            <a:r>
              <a:t>Comprehensive test suite + user override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383280"/>
            <a:ext cx="10515600" cy="594360"/>
          </a:xfrm>
          <a:prstGeom prst="roundRect">
            <a:avLst/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49300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Poor Data Quality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0" y="3493008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4D6D"/>
                </a:solidFill>
              </a:defRPr>
            </a:pPr>
            <a:r>
              <a:t>High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349300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</a:defRPr>
            </a:pPr>
            <a:r>
              <a:t>Profiler flags issues + minimum requirements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4069080"/>
            <a:ext cx="10515600" cy="594360"/>
          </a:xfrm>
          <a:prstGeom prst="roundRect">
            <a:avLst/>
          </a:prstGeom>
          <a:solidFill>
            <a:srgbClr val="1E1E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417880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Borderline Results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0" y="4178808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4D6D"/>
                </a:solidFill>
              </a:defRPr>
            </a:pPr>
            <a:r>
              <a:t>High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0" y="417880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</a:defRPr>
            </a:pPr>
            <a:r>
              <a:t>Confidence scoring + robustness suggestions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4754880"/>
            <a:ext cx="10515600" cy="594360"/>
          </a:xfrm>
          <a:prstGeom prst="roundRect">
            <a:avLst/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86460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API Latency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0" y="4864608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C98D"/>
                </a:solidFill>
              </a:defRPr>
            </a:pPr>
            <a:r>
              <a:t>Low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0" y="486460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</a:defRPr>
            </a:pPr>
            <a:r>
              <a:t>Cache common patterns + batch prompts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1520" y="5440680"/>
            <a:ext cx="10515600" cy="594360"/>
          </a:xfrm>
          <a:prstGeom prst="roundRect">
            <a:avLst/>
          </a:prstGeom>
          <a:solidFill>
            <a:srgbClr val="1E1E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555040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User Misinterpretation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14800" y="5550408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8C42"/>
                </a:solidFill>
              </a:defRPr>
            </a:pPr>
            <a:r>
              <a:t>Medium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0" y="555040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</a:defRPr>
            </a:pPr>
            <a:r>
              <a:t>Clear disclaimers + educational explanations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96D6"/>
                </a:solidFill>
              </a:defRPr>
            </a:pPr>
            <a:r>
              <a:t>Success Metrics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3474720" cy="2011680"/>
          </a:xfrm>
          <a:prstGeom prst="roundRect">
            <a:avLst/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00C98D"/>
                </a:solidFill>
              </a:defRPr>
            </a:pPr>
            <a:r>
              <a:t>&gt;90%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46888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Task Completion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83464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888899"/>
                </a:solidFill>
              </a:defRPr>
            </a:pPr>
            <a:r>
              <a:t>Valid recommendation produced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59" y="1463040"/>
            <a:ext cx="3474720" cy="2011680"/>
          </a:xfrm>
          <a:prstGeom prst="roundRect">
            <a:avLst/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559" y="173736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00C98D"/>
                </a:solidFill>
              </a:defRPr>
            </a:pPr>
            <a:r>
              <a:t>&gt;95%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80559" y="246888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Test Selection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59" y="283464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888899"/>
                </a:solidFill>
              </a:defRPr>
            </a:pPr>
            <a:r>
              <a:t>Correct required tests identified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598" y="1463040"/>
            <a:ext cx="3474720" cy="2011680"/>
          </a:xfrm>
          <a:prstGeom prst="roundRect">
            <a:avLst/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8" y="173736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0096D6"/>
                </a:solidFill>
              </a:defRPr>
            </a:pPr>
            <a:r>
              <a:t>&gt;80%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598" y="246888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Model Accuracy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598" y="283464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888899"/>
                </a:solidFill>
              </a:defRPr>
            </a:pPr>
            <a:r>
              <a:t>Matches expert econometrician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840480"/>
            <a:ext cx="3474720" cy="2011680"/>
          </a:xfrm>
          <a:prstGeom prst="roundRect">
            <a:avLst/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411480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00C98D"/>
                </a:solidFill>
              </a:defRPr>
            </a:pPr>
            <a:r>
              <a:t>&gt;95%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84632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Assumption Catch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21208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888899"/>
                </a:solidFill>
              </a:defRPr>
            </a:pPr>
            <a:r>
              <a:t>Violations detected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480559" y="3840480"/>
            <a:ext cx="3474720" cy="2011680"/>
          </a:xfrm>
          <a:prstGeom prst="roundRect">
            <a:avLst/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80559" y="411480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8C42"/>
                </a:solidFill>
              </a:defRPr>
            </a:pPr>
            <a:r>
              <a:t>&lt;60s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0559" y="484632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Analysis Time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80559" y="521208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888899"/>
                </a:solidFill>
              </a:defRPr>
            </a:pPr>
            <a:r>
              <a:t>Upload to final report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29598" y="3840480"/>
            <a:ext cx="3474720" cy="2011680"/>
          </a:xfrm>
          <a:prstGeom prst="roundRect">
            <a:avLst/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598" y="411480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0096D6"/>
                </a:solidFill>
              </a:defRPr>
            </a:pPr>
            <a:r>
              <a:t>&gt;4/5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598" y="484632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User Satisfaction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598" y="521208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888899"/>
                </a:solidFill>
              </a:defRPr>
            </a:pPr>
            <a:r>
              <a:t>Post-analysis rating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2560320"/>
            <a:ext cx="1828800" cy="508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400" b="1">
                <a:solidFill>
                  <a:srgbClr val="FFFFFF"/>
                </a:solidFill>
              </a:defRPr>
            </a:pPr>
            <a:r>
              <a:t>EconometricAI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CCCCCC"/>
                </a:solidFill>
              </a:defRPr>
            </a:pPr>
            <a:r>
              <a:t>Automated Econometric Testing. Intelligent Model Selection. Clear Results.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029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0C98D"/>
                </a:solidFill>
              </a:defRPr>
            </a:pPr>
            <a:r>
              <a:t>Market gap confirmed  |  93% completion rate proven  |  Hybrid architecture designed</a:t>
            </a:r>
            <a:br/>
            <a:br/>
            <a:r>
              <a:t>Ready to build.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