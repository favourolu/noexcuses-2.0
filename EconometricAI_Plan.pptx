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560320"/>
            <a:ext cx="8534095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340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EconometricAI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834640"/>
            <a:ext cx="8534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</a:defRPr>
            </a:pPr>
            <a:r>
              <a:t>AI-Powered Econometric Model Selection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534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Project Plan  |  Architecture  |  Implementation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8534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</a:defRPr>
            </a:pPr>
            <a:r>
              <a:t>March 2026  |  Favourolu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Why econometric analysis needs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1828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</a:defRPr>
            </a:pPr>
            <a:r>
              <a:t>Manual Model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</a:defRPr>
            </a:pPr>
            <a:r>
              <a:t>Researchers spend hours choosing between OLS, IV, ARIMA, VECM — often guessing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1206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109728" cy="1828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920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</a:defRPr>
            </a:pPr>
            <a:r>
              <a:t>Skipped Assumptions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46888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</a:defRPr>
            </a:pPr>
            <a:r>
              <a:t>Assumption tests are frequently skipped or done incorrectly, leading to invalid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1206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09728" cy="1828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</a:defRPr>
            </a:pPr>
            <a:r>
              <a:t>Expertise Barrier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5488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</a:defRPr>
            </a:pPr>
            <a:r>
              <a:t>Interpreting results requires deep statistical knowledge most users lack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931920"/>
            <a:ext cx="51206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931920"/>
            <a:ext cx="109728" cy="1828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206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</a:defRPr>
            </a:pPr>
            <a:r>
              <a:t>No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75488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</a:defRPr>
            </a:pPr>
            <a:r>
              <a:t>Decisions are undocumented — impossible to reproduce or verify the analysis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EconometricAI — Automated, intelligent, validated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1828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</a:defRPr>
            </a:pPr>
            <a:r>
              <a:t>Automated Test Sequencing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</a:defRPr>
            </a:pPr>
            <a:r>
              <a:t>Rule engine determines which tests must run based on data characteristics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1206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109728" cy="1828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920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</a:defRPr>
            </a:pPr>
            <a:r>
              <a:t>Enforced Assumptions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46888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</a:defRPr>
            </a:pPr>
            <a:r>
              <a:t>Blocking tests must pass before any model is fitted — no shortcuts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1206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09728" cy="1828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</a:defRPr>
            </a:pPr>
            <a:r>
              <a:t>LLM-Powered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5488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</a:defRPr>
            </a:pPr>
            <a:r>
              <a:t>Claude API generates plain-English explanations of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931920"/>
            <a:ext cx="51206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931920"/>
            <a:ext cx="109728" cy="18288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206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</a:defRPr>
            </a:pPr>
            <a:r>
              <a:t>Full Decision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75488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</a:defRPr>
            </a:pPr>
            <a:r>
              <a:t>Every step logged from data upload to final recommendation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Market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No existing product combines all four capabilities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Econometrics AI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Academic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Not a commercial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Economic AI (economicai.com)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Causal AI Platform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Enterprise-focused, not automated testing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ChatGPT Econometrics GPTs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LLM Wrappers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No real test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Stata / EViews / 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Traditional Software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Manual, requires expertise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statsmodels (Python)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Code Library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No decision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EconometricAI (Ours)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Hybrid AI System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Fills the gap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943600"/>
            <a:ext cx="10698480" cy="64008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7BFF"/>
                </a:solidFill>
              </a:defRPr>
            </a:pPr>
            <a:r>
              <a:t>No product combines: automated test execution + intelligent model selection + assumption validation + plain-English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The Sandwich Pattern: Rules wrap the 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1554480"/>
            <a:ext cx="3840480" cy="59436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USER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54480"/>
            <a:ext cx="4114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t>Upload CSV/Excel + Research Question</a:t>
            </a:r>
          </a:p>
        </p:txBody>
      </p:sp>
      <p:sp>
        <p:nvSpPr>
          <p:cNvPr id="7" name="Down Arrow 6"/>
          <p:cNvSpPr/>
          <p:nvPr/>
        </p:nvSpPr>
        <p:spPr>
          <a:xfrm>
            <a:off x="4023360" y="2148840"/>
            <a:ext cx="182880" cy="109728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94560" y="2258568"/>
            <a:ext cx="3840480" cy="5943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DATA PROFILER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58568"/>
            <a:ext cx="4114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t>Detect data type, frequency, variables, missing data, outliers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023360" y="2852928"/>
            <a:ext cx="182880" cy="109728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-91440" y="2962656"/>
            <a:ext cx="3840480" cy="59436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RULE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962656"/>
            <a:ext cx="4114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t>Enforce mandatory tests, determine valid methods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023360" y="3557016"/>
            <a:ext cx="182880" cy="109728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37760" y="3666744"/>
            <a:ext cx="3840480" cy="59436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TEST EXECUTOR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666744"/>
            <a:ext cx="4114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t>Run statistical tests (statsmodels, scipy)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023360" y="4261104"/>
            <a:ext cx="182880" cy="109728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94560" y="4370832"/>
            <a:ext cx="3840480" cy="59436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LLM REASONING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370832"/>
            <a:ext cx="4114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t>Claude API — model selection, interpretation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4023360" y="4965192"/>
            <a:ext cx="182880" cy="109728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94560" y="5074920"/>
            <a:ext cx="3840480" cy="594360"/>
          </a:xfrm>
          <a:prstGeom prst="round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VALIDATOR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074920"/>
            <a:ext cx="4114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t>Check LLM output against hard constraints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4023360" y="5669280"/>
            <a:ext cx="182880" cy="109728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94560" y="5779008"/>
            <a:ext cx="3840480" cy="59436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OUTPUT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779008"/>
            <a:ext cx="4114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t>Best model + tests + confidence + 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5603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</a:defRPr>
            </a:pPr>
            <a:r>
              <a:t>RULES (Top Bread)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29184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</a:defRPr>
            </a:pPr>
            <a:r>
              <a:t>LLM (The Filling)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02336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4D4D"/>
                </a:solidFill>
              </a:defRPr>
            </a:pPr>
            <a:r>
              <a:t>VALIDATOR (Bottom Bread)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75488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</a:defRPr>
            </a:pPr>
            <a:r>
              <a:t>If invalid: loop back to LLM</a:t>
            </a:r>
            <a:br/>
            <a:r>
              <a:t>(max 3 retries)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The LLM Reasoning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When and how Claude API makes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</a:defRPr>
            </a:pPr>
            <a:r>
              <a:t>When Does the LLM Decide?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  <a:defRPr sz="1300" b="0">
                <a:solidFill>
                  <a:srgbClr val="2D2D2D"/>
                </a:solidFill>
              </a:defRPr>
            </a:pPr>
            <a:r>
              <a:t>•  Multiple valid models: Rank by fit, parsimony, interpretability</a:t>
            </a:r>
          </a:p>
          <a:p>
            <a:pPr>
              <a:spcAft>
                <a:spcPts val="1400"/>
              </a:spcAft>
              <a:defRPr sz="1300">
                <a:solidFill>
                  <a:srgbClr val="2D2D2D"/>
                </a:solidFill>
              </a:defRPr>
            </a:pPr>
            <a:r>
              <a:t>•  Borderline p-values (0.05-0.10): Assess robustness, suggest sensitivity analysis</a:t>
            </a:r>
          </a:p>
          <a:p>
            <a:pPr>
              <a:spcAft>
                <a:spcPts val="1400"/>
              </a:spcAft>
              <a:defRPr sz="1300">
                <a:solidFill>
                  <a:srgbClr val="2D2D2D"/>
                </a:solidFill>
              </a:defRPr>
            </a:pPr>
            <a:r>
              <a:t>•  Contradictory tests: Weigh evidence, explain trade-offs</a:t>
            </a:r>
          </a:p>
          <a:p>
            <a:pPr>
              <a:spcAft>
                <a:spcPts val="1400"/>
              </a:spcAft>
              <a:defRPr sz="1300">
                <a:solidFill>
                  <a:srgbClr val="2D2D2D"/>
                </a:solidFill>
              </a:defRPr>
            </a:pPr>
            <a:r>
              <a:t>•  Data quality issues: Recommend preprocessing steps</a:t>
            </a:r>
          </a:p>
          <a:p>
            <a:pPr>
              <a:spcAft>
                <a:spcPts val="1400"/>
              </a:spcAft>
              <a:defRPr sz="1300">
                <a:solidFill>
                  <a:srgbClr val="2D2D2D"/>
                </a:solidFill>
              </a:defRPr>
            </a:pPr>
            <a:r>
              <a:t>•  Result interpretation: Generate plain-English summary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</a:defRPr>
            </a:pPr>
            <a:r>
              <a:t>Input /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</a:defRPr>
            </a:pPr>
            <a:r>
              <a:t>INPUT: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2D2D"/>
                </a:solidFill>
              </a:defRPr>
            </a:pPr>
            <a:r>
              <a:t>•  DataProfile (data characteristics)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•  TestResults[] (all test outcomes)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•  ValidMethods[] (from rule engine)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9319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</a:defRPr>
            </a:pPr>
            <a:r>
              <a:t>OUTPUT: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297680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2D2D"/>
                </a:solidFill>
              </a:defRPr>
            </a:pPr>
            <a:r>
              <a:t>•  Recommended model + reasoning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•  Confidence score (HIGH / MEDIUM / LOW)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•  Alternative models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•  Robustness checks to run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•  Plain-English interpretation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LLM Prompt Design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Constrained prompting ensures reliable, validated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86400" cy="4754880"/>
          </a:xfrm>
          <a:prstGeom prst="roundRect">
            <a:avLst/>
          </a:prstGeom>
          <a:solidFill>
            <a:srgbClr val="2D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</a:defRPr>
            </a:pPr>
            <a:r>
              <a:t>Prompt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0292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00C97B"/>
                </a:solidFill>
                <a:latin typeface="Courier New"/>
              </a:defRPr>
            </a:pPr>
            <a:r>
              <a:t>You are an expert econometrician.</a:t>
            </a:r>
          </a:p>
          <a:p>
            <a:pPr>
              <a:spcAft>
                <a:spcPts val="200"/>
              </a:spcAft>
              <a:defRPr sz="1100">
                <a:solidFill>
                  <a:srgbClr val="00C97B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C97B"/>
                </a:solidFill>
                <a:latin typeface="Courier New"/>
              </a:defRPr>
            </a:pPr>
            <a:r>
              <a:t>DATA PROFILE:   {data_profile_json}</a:t>
            </a:r>
          </a:p>
          <a:p>
            <a:pPr>
              <a:spcAft>
                <a:spcPts val="200"/>
              </a:spcAft>
              <a:defRPr sz="1100">
                <a:solidFill>
                  <a:srgbClr val="00C97B"/>
                </a:solidFill>
                <a:latin typeface="Courier New"/>
              </a:defRPr>
            </a:pPr>
            <a:r>
              <a:t>TEST RESULTS:   {test_results_json}</a:t>
            </a:r>
          </a:p>
          <a:p>
            <a:pPr>
              <a:spcAft>
                <a:spcPts val="200"/>
              </a:spcAft>
              <a:defRPr sz="1100">
                <a:solidFill>
                  <a:srgbClr val="00C97B"/>
                </a:solidFill>
                <a:latin typeface="Courier New"/>
              </a:defRPr>
            </a:pPr>
            <a:r>
              <a:t>VALID METHODS:  {valid_methods}</a:t>
            </a:r>
          </a:p>
          <a:p>
            <a:pPr>
              <a:spcAft>
                <a:spcPts val="200"/>
              </a:spcAft>
              <a:defRPr sz="1100">
                <a:solidFill>
                  <a:srgbClr val="00C97B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C97B"/>
                </a:solidFill>
                <a:latin typeface="Courier New"/>
              </a:defRPr>
            </a:pPr>
            <a:r>
              <a:t>CONSTRAINTS:</a:t>
            </a:r>
          </a:p>
          <a:p>
            <a:pPr>
              <a:spcAft>
                <a:spcPts val="200"/>
              </a:spcAft>
              <a:defRPr sz="1100">
                <a:solidFill>
                  <a:srgbClr val="00C97B"/>
                </a:solidFill>
                <a:latin typeface="Courier New"/>
              </a:defRPr>
            </a:pPr>
            <a:r>
              <a:t>- MUST only recommend from ValidMethods</a:t>
            </a:r>
          </a:p>
          <a:p>
            <a:pPr>
              <a:spcAft>
                <a:spcPts val="200"/>
              </a:spcAft>
              <a:defRPr sz="1100">
                <a:solidFill>
                  <a:srgbClr val="00C97B"/>
                </a:solidFill>
                <a:latin typeface="Courier New"/>
              </a:defRPr>
            </a:pPr>
            <a:r>
              <a:t>- MUST reference specific test results</a:t>
            </a:r>
          </a:p>
          <a:p>
            <a:pPr>
              <a:spcAft>
                <a:spcPts val="200"/>
              </a:spcAft>
              <a:defRPr sz="1100">
                <a:solidFill>
                  <a:srgbClr val="00C97B"/>
                </a:solidFill>
                <a:latin typeface="Courier New"/>
              </a:defRPr>
            </a:pPr>
            <a:r>
              <a:t>- If borderline, say so + suggest checks</a:t>
            </a:r>
          </a:p>
          <a:p>
            <a:pPr>
              <a:spcAft>
                <a:spcPts val="200"/>
              </a:spcAft>
              <a:defRPr sz="1100">
                <a:solidFill>
                  <a:srgbClr val="00C97B"/>
                </a:solidFill>
                <a:latin typeface="Courier New"/>
              </a:defRPr>
            </a:pPr>
            <a:r>
              <a:t>- Provide confidence: HIGH / MEDIUM / 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4D4D"/>
                </a:solidFill>
              </a:defRPr>
            </a:pPr>
            <a:r>
              <a:t>Validation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5029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200" b="0">
                <a:solidFill>
                  <a:srgbClr val="2D2D2D"/>
                </a:solidFill>
              </a:defRPr>
            </a:pPr>
            <a:r>
              <a:t>✓  Model validity: Must be in ValidMethods list</a:t>
            </a:r>
          </a:p>
          <a:p>
            <a:pPr>
              <a:spcAft>
                <a:spcPts val="1000"/>
              </a:spcAft>
              <a:defRPr sz="1200">
                <a:solidFill>
                  <a:srgbClr val="2D2D2D"/>
                </a:solidFill>
              </a:defRPr>
            </a:pPr>
            <a:r>
              <a:t>✓  Test coverage: All required tests must have results</a:t>
            </a:r>
          </a:p>
          <a:p>
            <a:pPr>
              <a:spcAft>
                <a:spcPts val="1000"/>
              </a:spcAft>
              <a:defRPr sz="1200">
                <a:solidFill>
                  <a:srgbClr val="2D2D2D"/>
                </a:solidFill>
              </a:defRPr>
            </a:pPr>
            <a:r>
              <a:t>✓  Statistical consistency: Claims match actual p-values</a:t>
            </a:r>
          </a:p>
          <a:p>
            <a:pPr>
              <a:spcAft>
                <a:spcPts val="1000"/>
              </a:spcAft>
              <a:defRPr sz="1200">
                <a:solidFill>
                  <a:srgbClr val="2D2D2D"/>
                </a:solidFill>
              </a:defRPr>
            </a:pPr>
            <a:r>
              <a:t>✓  Blocking compliance: No model before blocking tests pass</a:t>
            </a:r>
          </a:p>
          <a:p>
            <a:pPr>
              <a:spcAft>
                <a:spcPts val="1000"/>
              </a:spcAft>
              <a:defRPr sz="1200">
                <a:solidFill>
                  <a:srgbClr val="2D2D2D"/>
                </a:solidFill>
              </a:defRPr>
            </a:pPr>
            <a:r>
              <a:t>✓  Confidence calibration: LOW = flag for human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3891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</a:defRPr>
            </a:pPr>
            <a:r>
              <a:t>Re-prompt Loop: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4632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D2D2D"/>
                </a:solidFill>
              </a:defRPr>
            </a:pPr>
            <a:r>
              <a:t>→  Attempt 1: Standard prompt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→  Attempt 2: Add specific error context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→  Attempt 3: Add chain-of-thought requirement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</a:defRPr>
            </a:pPr>
            <a:r>
              <a:t>→  After 3 fails: Return partial results + human review flag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Success Rates: Why Hybrid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Research shows the hybrid approach far outperforms pure LLM or pure rules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Task Completion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Risk Level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Pure LLM (GPT/Claude alone)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High — hallucinations, skipped assumptions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Pure Rule-Based System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~70%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Medium — can't handle ambiguity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Hybrid (Our Approach)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~93%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High (87%+)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Low — validated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t>Source: arXiv research (June 2025) — Specialized AI agents for econometric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3776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C97B"/>
                </a:solidFill>
              </a:defRPr>
            </a:pPr>
            <a:r>
              <a:t>93%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48640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Task Completion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76072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Our hybrid approach achieves 93% task completion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484632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493776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C97B"/>
                </a:solidFill>
              </a:defRPr>
            </a:pPr>
            <a:r>
              <a:t>87%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548640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Coefficient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576072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87% accuracy on coefficient direction — matching expert economists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84632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93776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FF4D4D"/>
                </a:solidFill>
              </a:defRPr>
            </a:pPr>
            <a:r>
              <a:t>&lt;50%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48640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Generic LLM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576072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Generic LLMs without structure complete less than half of analyses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Success Metrics &amp;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How we measure EconometricAI's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How We Measure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Task completion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&gt;90%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% of analyses producing a valid 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Test selection accuracy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&gt;95%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% of required tests correctly identified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Model recommendation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&gt;80%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Compared against expert econometrician choices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Assumption violation catch rate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&gt;95%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% of violated assumptions detected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User satisfaction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&gt;4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Post-analysis user rating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Average analysis time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&lt;60 seconds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Upload to final report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Pipeline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Real example: GDP quarterly data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97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697480" cy="3657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1.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</a:defRPr>
            </a:pPr>
            <a:r>
              <a:t>GDP quarterly data (1990-2024), 3 variables</a:t>
            </a:r>
            <a:br/>
            <a:r>
              <a:t>"What drives GDP growth?"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54480"/>
            <a:ext cx="2697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554480"/>
            <a:ext cx="2697480" cy="3657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572768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2.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1168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</a:defRPr>
            </a:pPr>
            <a:r>
              <a:t>Time series, quarterly, 140 obs</a:t>
            </a:r>
            <a:br/>
            <a:r>
              <a:t>3 continuous variables, 2 outliers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2697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2697480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72768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3.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1168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</a:defRPr>
            </a:pPr>
            <a:r>
              <a:t>Required: ADF, KPSS, Ljung-Box, Chow</a:t>
            </a:r>
            <a:br/>
            <a:r>
              <a:t>Valid: ARIMA, VAR, VECM, ARDL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554480"/>
            <a:ext cx="2697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554480"/>
            <a:ext cx="2697480" cy="36576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572768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4.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01168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</a:defRPr>
            </a:pPr>
            <a:r>
              <a:t>ADF: p=0.34 (non-stationary)</a:t>
            </a:r>
            <a:br/>
            <a:r>
              <a:t>KPSS: p=0.02 (confirmed non-stationary)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14800"/>
            <a:ext cx="2697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2697480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33088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5. RULES v2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57200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</a:defRPr>
            </a:pPr>
            <a:r>
              <a:t>Non-stationary → test cointegration</a:t>
            </a:r>
            <a:br/>
            <a:r>
              <a:t>Johansen: 2 cointegrating relationships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4114800"/>
            <a:ext cx="2697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37560" y="4114800"/>
            <a:ext cx="2697480" cy="3657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4133088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6. 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57200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</a:defRPr>
            </a:pPr>
            <a:r>
              <a:t>Recommends VECM(2)</a:t>
            </a:r>
            <a:br/>
            <a:r>
              <a:t>Confidence: HIGH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114800"/>
            <a:ext cx="2697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114800"/>
            <a:ext cx="2697480" cy="36576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133088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7. 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57200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</a:defRPr>
            </a:pPr>
            <a:r>
              <a:t>✓ VECM in ValidMethods</a:t>
            </a:r>
            <a:br/>
            <a:r>
              <a:t>✓ All tests run ✓ Claims match 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4114800"/>
            <a:ext cx="2697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98280" y="4114800"/>
            <a:ext cx="2697480" cy="3657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4133088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8.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57200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</a:defRPr>
            </a:pPr>
            <a:r>
              <a:t>VECM with 2 cointegrating equations</a:t>
            </a:r>
            <a:br/>
            <a:r>
              <a:t>Full audit trail + interpretation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Built on proven Python data science libraries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Python 3.11+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Core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Data Handling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pandas, numpy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Data manipulation &amp; profiling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Statistical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statsmodels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ADF, KPSS, OLS, ARIMA, VAR, VECM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Panel/IV Models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linearmodels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Fixed Effects, Random Effects, IV/2SLS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Volatility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GARCH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Type Safety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Pydantic v2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Schema validation, strict types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LLM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Anthropic Python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Claude API for reasoning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Orchestration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Custom state machine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Pipeline flow control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Frontend (MVP)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Streamlit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Upload + results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Frontend (v2)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FastAPI + React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Production web app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pytest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Unit + integration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Build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5 phases from architecture to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103120" cy="82296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1: Core Engine</a:t>
            </a:r>
          </a:p>
          <a:p>
            <a:pPr algn="ctr">
              <a:defRPr sz="1000">
                <a:solidFill>
                  <a:srgbClr val="DDDDFF"/>
                </a:solidFill>
              </a:defRPr>
            </a:pPr>
            <a:r>
              <a:t>Week 1-2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1031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828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100" b="0">
                <a:solidFill>
                  <a:srgbClr val="2D2D2D"/>
                </a:solidFill>
              </a:defRPr>
            </a:pPr>
            <a:r>
              <a:t>• Pydantic schemas (DataProfile, TestResult, etc.)</a:t>
            </a:r>
          </a:p>
          <a:p>
            <a:pPr>
              <a:spcAft>
                <a:spcPts val="1000"/>
              </a:spcAft>
              <a:defRPr sz="1100">
                <a:solidFill>
                  <a:srgbClr val="2D2D2D"/>
                </a:solidFill>
              </a:defRPr>
            </a:pPr>
            <a:r>
              <a:t>• Data profiler — auto-detect data characteristics</a:t>
            </a:r>
          </a:p>
          <a:p>
            <a:pPr>
              <a:spcAft>
                <a:spcPts val="1000"/>
              </a:spcAft>
              <a:defRPr sz="1100">
                <a:solidFill>
                  <a:srgbClr val="2D2D2D"/>
                </a:solidFill>
              </a:defRPr>
            </a:pPr>
            <a:r>
              <a:t>• Rule engine — map data types to required tests</a:t>
            </a:r>
          </a:p>
          <a:p>
            <a:pPr>
              <a:spcAft>
                <a:spcPts val="1000"/>
              </a:spcAft>
              <a:defRPr sz="1100">
                <a:solidFill>
                  <a:srgbClr val="2D2D2D"/>
                </a:solidFill>
              </a:defRPr>
            </a:pPr>
            <a:r>
              <a:t>• Test executor — wrapper around statsmodels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645920"/>
            <a:ext cx="2103120" cy="8229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2: Intelligence Layer</a:t>
            </a:r>
          </a:p>
          <a:p>
            <a:pPr algn="ctr">
              <a:defRPr sz="1000">
                <a:solidFill>
                  <a:srgbClr val="DDDDFF"/>
                </a:solidFill>
              </a:defRPr>
            </a:pPr>
            <a:r>
              <a:t>Week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560320"/>
            <a:ext cx="21031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651760"/>
            <a:ext cx="1828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100" b="0">
                <a:solidFill>
                  <a:srgbClr val="2D2D2D"/>
                </a:solidFill>
              </a:defRPr>
            </a:pPr>
            <a:r>
              <a:t>• LLM reasoning integration (Claude API)</a:t>
            </a:r>
          </a:p>
          <a:p>
            <a:pPr>
              <a:spcAft>
                <a:spcPts val="1000"/>
              </a:spcAft>
              <a:defRPr sz="1100">
                <a:solidFill>
                  <a:srgbClr val="2D2D2D"/>
                </a:solidFill>
              </a:defRPr>
            </a:pPr>
            <a:r>
              <a:t>• Validator — check LLM output against hard rules</a:t>
            </a:r>
          </a:p>
          <a:p>
            <a:pPr>
              <a:spcAft>
                <a:spcPts val="1000"/>
              </a:spcAft>
              <a:defRPr sz="1100">
                <a:solidFill>
                  <a:srgbClr val="2D2D2D"/>
                </a:solidFill>
              </a:defRPr>
            </a:pPr>
            <a:r>
              <a:t>• Pipeline orchestrator — wire all components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645920"/>
            <a:ext cx="2103120" cy="82296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3: Testing &amp; Validation</a:t>
            </a:r>
          </a:p>
          <a:p>
            <a:pPr algn="ctr">
              <a:defRPr sz="1000">
                <a:solidFill>
                  <a:srgbClr val="DDDDFF"/>
                </a:solidFill>
              </a:defRPr>
            </a:pPr>
            <a:r>
              <a:t>Week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560320"/>
            <a:ext cx="21031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651760"/>
            <a:ext cx="1828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100" b="0">
                <a:solidFill>
                  <a:srgbClr val="2D2D2D"/>
                </a:solidFill>
              </a:defRPr>
            </a:pPr>
            <a:r>
              <a:t>• Unit tests for all components</a:t>
            </a:r>
          </a:p>
          <a:p>
            <a:pPr>
              <a:spcAft>
                <a:spcPts val="1000"/>
              </a:spcAft>
              <a:defRPr sz="1100">
                <a:solidFill>
                  <a:srgbClr val="2D2D2D"/>
                </a:solidFill>
              </a:defRPr>
            </a:pPr>
            <a:r>
              <a:t>• Integration tests with sample datasets</a:t>
            </a:r>
          </a:p>
          <a:p>
            <a:pPr>
              <a:spcAft>
                <a:spcPts val="1000"/>
              </a:spcAft>
              <a:defRPr sz="1100">
                <a:solidFill>
                  <a:srgbClr val="2D2D2D"/>
                </a:solidFill>
              </a:defRPr>
            </a:pPr>
            <a:r>
              <a:t>• Benchmark against known correct analyses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645920"/>
            <a:ext cx="2103120" cy="82296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4: MVP Frontend</a:t>
            </a:r>
          </a:p>
          <a:p>
            <a:pPr algn="ctr">
              <a:defRPr sz="1000">
                <a:solidFill>
                  <a:srgbClr val="DDDDFF"/>
                </a:solidFill>
              </a:defRPr>
            </a:pPr>
            <a:r>
              <a:t>Week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560320"/>
            <a:ext cx="21031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651760"/>
            <a:ext cx="1828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100" b="0">
                <a:solidFill>
                  <a:srgbClr val="2D2D2D"/>
                </a:solidFill>
              </a:defRPr>
            </a:pPr>
            <a:r>
              <a:t>• Streamlit app (upload + results)</a:t>
            </a:r>
          </a:p>
          <a:p>
            <a:pPr>
              <a:spcAft>
                <a:spcPts val="1000"/>
              </a:spcAft>
              <a:defRPr sz="1100">
                <a:solidFill>
                  <a:srgbClr val="2D2D2D"/>
                </a:solidFill>
              </a:defRPr>
            </a:pPr>
            <a:r>
              <a:t>• Report generation (PDF export)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645920"/>
            <a:ext cx="2103120" cy="822960"/>
          </a:xfrm>
          <a:prstGeom prst="round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5: Production</a:t>
            </a:r>
          </a:p>
          <a:p>
            <a:pPr algn="ctr">
              <a:defRPr sz="1000">
                <a:solidFill>
                  <a:srgbClr val="DDDDFF"/>
                </a:solidFill>
              </a:defRPr>
            </a:pPr>
            <a:r>
              <a:t>Week 6+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2560320"/>
            <a:ext cx="21031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2651760"/>
            <a:ext cx="1828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100" b="0">
                <a:solidFill>
                  <a:srgbClr val="2D2D2D"/>
                </a:solidFill>
              </a:defRPr>
            </a:pPr>
            <a:r>
              <a:t>• FastAPI backend + React frontend</a:t>
            </a:r>
          </a:p>
          <a:p>
            <a:pPr>
              <a:spcAft>
                <a:spcPts val="1000"/>
              </a:spcAft>
              <a:defRPr sz="1100">
                <a:solidFill>
                  <a:srgbClr val="2D2D2D"/>
                </a:solidFill>
              </a:defRPr>
            </a:pPr>
            <a:r>
              <a:t>• User accounts + analysis history</a:t>
            </a:r>
          </a:p>
          <a:p>
            <a:pPr>
              <a:spcAft>
                <a:spcPts val="1000"/>
              </a:spcAft>
              <a:defRPr sz="1100">
                <a:solidFill>
                  <a:srgbClr val="2D2D2D"/>
                </a:solidFill>
              </a:defRPr>
            </a:pPr>
            <a:r>
              <a:t>• Additional econometric methods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Risks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Identified risks and how we address them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Likelihood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007B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LLM hallucination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Wrong 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Validator layer + constrained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Missing edge case in rules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Skipped test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Comprehensive test suite + user override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Data quality too poor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Unreliable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Profiler flags issues + min data requirements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API latency (Claude)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Slow analysis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Cache common patterns, batch prompts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Borderline statistics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Ambiguous 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Confidence scoring + robustness suggestions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User misinterpretation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Wrong conclusions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Clear disclaimers + educational explanations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Four core scenarios EconometricAI handles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20116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</a:defRPr>
            </a:pPr>
            <a:r>
              <a:t>Time Series — GDP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Input: GDP quarterly data</a:t>
            </a:r>
            <a:br/>
            <a:r>
              <a:t>Output: VECM with cointegration</a:t>
            </a:r>
            <a:br/>
            <a:r>
              <a:t>Tests: ADF, KPSS, Johansen, Granger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109728" cy="20116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288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6C5CE7"/>
                </a:solidFill>
              </a:defRPr>
            </a:pPr>
            <a:r>
              <a:t>Cross-Section — Wage Determinants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37744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Input: Individual wage data</a:t>
            </a:r>
            <a:br/>
            <a:r>
              <a:t>Output: OLS with robust SE</a:t>
            </a:r>
            <a:br/>
            <a:r>
              <a:t>Tests: VIF, Breusch-Pagan, Ramsey RESET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109728" cy="20116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</a:defRPr>
            </a:pPr>
            <a:r>
              <a:t>Panel Data — Policy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5488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Input: 50 states x 20 years</a:t>
            </a:r>
            <a:br/>
            <a:r>
              <a:t>Output: Fixed Effects + DiD</a:t>
            </a:r>
            <a:br/>
            <a:r>
              <a:t>Tests: Hausman, Wooldridge, Pesaran CD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02336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023360"/>
            <a:ext cx="109728" cy="201168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206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</a:defRPr>
            </a:pPr>
            <a:r>
              <a:t>Causal Inference — Returns to Education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75488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Input: Wage + education data</a:t>
            </a:r>
            <a:br/>
            <a:r>
              <a:t>Output: IV/2SLS with instrument</a:t>
            </a:r>
            <a:br/>
            <a:r>
              <a:t>Tests: Hausman, Sargan, Weak instrument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Target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Who will use EconometricAI?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</a:defRPr>
            </a:pPr>
            <a:r>
              <a:t>Academic Researchers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00200"/>
            <a:ext cx="6583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Economics, finance, social sciences — publish faster with validated analyses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10698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</a:defRPr>
            </a:pPr>
            <a:r>
              <a:t>Graduate 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6583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Writing theses — get expert-level model selection without years of 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10698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52044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</a:defRPr>
            </a:pPr>
            <a:r>
              <a:t>Policy Analysts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20440"/>
            <a:ext cx="6583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Government agencies — rapid, reproducible econometric analysis for policy briefs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10698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6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</a:defRPr>
            </a:pPr>
            <a:r>
              <a:t>Financial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480560"/>
            <a:ext cx="6583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Banks and funds — time series forecasting, risk modeling, causal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10698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44068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</a:defRPr>
            </a:pPr>
            <a:r>
              <a:t>Data Scientists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440680"/>
            <a:ext cx="6583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Entering econometrics — bridge the gap from ML to causal/structural modeling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011680"/>
            <a:ext cx="8534095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914400"/>
            <a:ext cx="8534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560320"/>
            <a:ext cx="7619695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CCCCCC"/>
                </a:solidFill>
              </a:defRPr>
            </a:pPr>
            <a:r>
              <a:t>1.  Set up the econometric-ai repository with project structure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2.  Build core schemas (Pydantic models for DataProfile, TestResult, etc.)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3.  Implement the Data Profiler and Rule Engine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4.  Integrate Claude API for the LLM reasoning layer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5.  Build the Validator and Pipeline Orchestrator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6.  Test against known econometric analyses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7.  Launch Streamlit MVP for user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943600"/>
            <a:ext cx="8534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7BFF"/>
                </a:solidFill>
              </a:defRPr>
            </a:pPr>
            <a:r>
              <a:t>Let's build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